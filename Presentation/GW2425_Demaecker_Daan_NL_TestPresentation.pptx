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4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92" y="16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Howest\GD_J3_S2\Gradwork_2.0\Gradwork\Experiment\Results\Comparing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3840*2054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540714422892261"/>
          <c:y val="0.16708333333333336"/>
          <c:w val="0.86983507777991165"/>
          <c:h val="0.61498432487605714"/>
        </c:manualLayout>
      </c:layout>
      <c:lineChart>
        <c:grouping val="standard"/>
        <c:varyColors val="0"/>
        <c:ser>
          <c:idx val="0"/>
          <c:order val="0"/>
          <c:tx>
            <c:strRef>
              <c:f>Frametime!$B$13</c:f>
              <c:strCache>
                <c:ptCount val="1"/>
                <c:pt idx="0">
                  <c:v>SSAO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Frametime!$C$12:$F$12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Frametime!$C$13:$F$13</c:f>
              <c:numCache>
                <c:formatCode>General</c:formatCode>
                <c:ptCount val="4"/>
                <c:pt idx="0">
                  <c:v>1.4235648000000001</c:v>
                </c:pt>
                <c:pt idx="1">
                  <c:v>5.2716544000000001</c:v>
                </c:pt>
                <c:pt idx="2">
                  <c:v>23.630131200000001</c:v>
                </c:pt>
                <c:pt idx="3">
                  <c:v>442.3408488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6F-436B-A205-96441DBD2B56}"/>
            </c:ext>
          </c:extLst>
        </c:ser>
        <c:ser>
          <c:idx val="1"/>
          <c:order val="1"/>
          <c:tx>
            <c:strRef>
              <c:f>Frametime!$B$14</c:f>
              <c:strCache>
                <c:ptCount val="1"/>
                <c:pt idx="0">
                  <c:v>HBAO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Frametime!$C$12:$F$12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Frametime!$C$14:$F$14</c:f>
              <c:numCache>
                <c:formatCode>General</c:formatCode>
                <c:ptCount val="4"/>
                <c:pt idx="0">
                  <c:v>1.0431488000000002</c:v>
                </c:pt>
                <c:pt idx="1">
                  <c:v>3.3596415999999998</c:v>
                </c:pt>
                <c:pt idx="2">
                  <c:v>11.262463999999998</c:v>
                </c:pt>
                <c:pt idx="3">
                  <c:v>178.87744000000001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6F-436B-A205-96441DBD2B56}"/>
            </c:ext>
          </c:extLst>
        </c:ser>
        <c:ser>
          <c:idx val="2"/>
          <c:order val="2"/>
          <c:tx>
            <c:strRef>
              <c:f>Frametime!$B$15</c:f>
              <c:strCache>
                <c:ptCount val="1"/>
                <c:pt idx="0">
                  <c:v>GTAO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Frametime!$C$12:$F$12</c:f>
              <c:numCache>
                <c:formatCode>General</c:formatCode>
                <c:ptCount val="4"/>
                <c:pt idx="0">
                  <c:v>16</c:v>
                </c:pt>
                <c:pt idx="1">
                  <c:v>64</c:v>
                </c:pt>
                <c:pt idx="2">
                  <c:v>256</c:v>
                </c:pt>
                <c:pt idx="3">
                  <c:v>3600</c:v>
                </c:pt>
              </c:numCache>
            </c:numRef>
          </c:cat>
          <c:val>
            <c:numRef>
              <c:f>Frametime!$C$15:$F$15</c:f>
              <c:numCache>
                <c:formatCode>General</c:formatCode>
                <c:ptCount val="4"/>
                <c:pt idx="0">
                  <c:v>0.84520964999999992</c:v>
                </c:pt>
                <c:pt idx="1">
                  <c:v>3.1763295999999999</c:v>
                </c:pt>
                <c:pt idx="2">
                  <c:v>11.7888</c:v>
                </c:pt>
                <c:pt idx="3">
                  <c:v>214.09148535999998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6F-436B-A205-96441DBD2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7913680"/>
        <c:axId val="427911600"/>
      </c:lineChart>
      <c:catAx>
        <c:axId val="427913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Samples</a:t>
                </a:r>
              </a:p>
            </c:rich>
          </c:tx>
          <c:layout>
            <c:manualLayout>
              <c:xMode val="edge"/>
              <c:yMode val="edge"/>
              <c:x val="0.45916535433070865"/>
              <c:y val="0.843170749489647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7911600"/>
        <c:crosses val="autoZero"/>
        <c:auto val="1"/>
        <c:lblAlgn val="ctr"/>
        <c:lblOffset val="100"/>
        <c:noMultiLvlLbl val="0"/>
      </c:catAx>
      <c:valAx>
        <c:axId val="427911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Frametime</a:t>
                </a:r>
                <a:r>
                  <a:rPr lang="en-GB" baseline="0"/>
                  <a:t> in ms</a:t>
                </a:r>
                <a:endParaRPr lang="en-GB"/>
              </a:p>
            </c:rich>
          </c:tx>
          <c:layout>
            <c:manualLayout>
              <c:xMode val="edge"/>
              <c:yMode val="edge"/>
              <c:x val="0"/>
              <c:y val="0.381126421697287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7913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41B5A-D2AE-419F-BCE6-16B607907838}" type="datetimeFigureOut">
              <a:rPr lang="en-GB" smtClean="0"/>
              <a:t>19/08/2025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2C3E01-0846-47B5-A129-3351AC889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92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Questionnaire</a:t>
            </a:r>
          </a:p>
          <a:p>
            <a:r>
              <a:rPr lang="en-GB" dirty="0"/>
              <a:t>56 people</a:t>
            </a:r>
          </a:p>
          <a:p>
            <a:r>
              <a:rPr lang="en-GB" dirty="0"/>
              <a:t>No expertise needed, anyone can fill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3E01-0846-47B5-A129-3351AC88920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741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Screen space directional occlusion</a:t>
            </a:r>
          </a:p>
          <a:p>
            <a:r>
              <a:rPr lang="en-GB" dirty="0"/>
              <a:t>Horizon based ambient occlusion+</a:t>
            </a:r>
          </a:p>
          <a:p>
            <a:r>
              <a:rPr lang="en-GB" dirty="0"/>
              <a:t>Alchemy ambient occlusion</a:t>
            </a:r>
          </a:p>
          <a:p>
            <a:r>
              <a:rPr lang="en-GB" dirty="0"/>
              <a:t>Ray traced ambient occlusion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C3E01-0846-47B5-A129-3351AC88920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035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3156" y="402601"/>
            <a:ext cx="13989685" cy="2014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64F6F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64F6F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4EA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3156" y="402601"/>
            <a:ext cx="16787495" cy="2014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50" b="1" i="0">
                <a:solidFill>
                  <a:srgbClr val="466C8A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40528" y="4210131"/>
            <a:ext cx="8006943" cy="2564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64F6F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45" y="554898"/>
            <a:ext cx="14702155" cy="4831080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9000" spc="105" dirty="0"/>
              <a:t>The</a:t>
            </a:r>
            <a:r>
              <a:rPr sz="9000" spc="335" dirty="0"/>
              <a:t> </a:t>
            </a:r>
            <a:r>
              <a:rPr sz="9000" spc="130" dirty="0"/>
              <a:t>Impact</a:t>
            </a:r>
            <a:r>
              <a:rPr sz="9000" spc="340" dirty="0"/>
              <a:t> </a:t>
            </a:r>
            <a:r>
              <a:rPr sz="9000" spc="135" dirty="0"/>
              <a:t>of</a:t>
            </a:r>
            <a:endParaRPr sz="9000" dirty="0"/>
          </a:p>
          <a:p>
            <a:pPr marL="12700" marR="5080">
              <a:lnSpc>
                <a:spcPts val="12610"/>
              </a:lnSpc>
              <a:spcBef>
                <a:spcPts val="525"/>
              </a:spcBef>
            </a:pPr>
            <a:r>
              <a:rPr sz="9000" spc="80" dirty="0"/>
              <a:t>AO</a:t>
            </a:r>
            <a:r>
              <a:rPr sz="9000" spc="345" dirty="0"/>
              <a:t> </a:t>
            </a:r>
            <a:r>
              <a:rPr sz="9000" spc="140" dirty="0"/>
              <a:t>Generation</a:t>
            </a:r>
            <a:r>
              <a:rPr sz="9000" spc="345" dirty="0"/>
              <a:t> </a:t>
            </a:r>
            <a:r>
              <a:rPr sz="9000" spc="150" dirty="0"/>
              <a:t>Methods </a:t>
            </a:r>
            <a:r>
              <a:rPr sz="9000" spc="80" dirty="0"/>
              <a:t>on</a:t>
            </a:r>
            <a:r>
              <a:rPr sz="9000" spc="325" dirty="0"/>
              <a:t> </a:t>
            </a:r>
            <a:r>
              <a:rPr sz="9000" spc="160" dirty="0"/>
              <a:t>Real-</a:t>
            </a:r>
            <a:r>
              <a:rPr sz="9000" spc="120" dirty="0"/>
              <a:t>Time</a:t>
            </a:r>
            <a:r>
              <a:rPr sz="9000" spc="325" dirty="0"/>
              <a:t> </a:t>
            </a:r>
            <a:r>
              <a:rPr sz="9000" spc="150" dirty="0"/>
              <a:t>Rendering</a:t>
            </a:r>
            <a:endParaRPr sz="9000" dirty="0"/>
          </a:p>
        </p:txBody>
      </p:sp>
      <p:sp>
        <p:nvSpPr>
          <p:cNvPr id="3" name="object 3"/>
          <p:cNvSpPr txBox="1"/>
          <p:nvPr/>
        </p:nvSpPr>
        <p:spPr>
          <a:xfrm>
            <a:off x="853545" y="5465030"/>
            <a:ext cx="429768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dirty="0">
                <a:solidFill>
                  <a:srgbClr val="264F6F"/>
                </a:solidFill>
                <a:latin typeface="Poppins"/>
                <a:cs typeface="Poppins"/>
              </a:rPr>
              <a:t>by</a:t>
            </a:r>
            <a:r>
              <a:rPr sz="3500" spc="-3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500" dirty="0">
                <a:solidFill>
                  <a:srgbClr val="264F6F"/>
                </a:solidFill>
                <a:latin typeface="Poppins"/>
                <a:cs typeface="Poppins"/>
              </a:rPr>
              <a:t>Daan</a:t>
            </a:r>
            <a:r>
              <a:rPr sz="3500" spc="-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500" spc="-10" dirty="0">
                <a:solidFill>
                  <a:srgbClr val="264F6F"/>
                </a:solidFill>
                <a:latin typeface="Poppins"/>
                <a:cs typeface="Poppins"/>
              </a:rPr>
              <a:t>Demacker</a:t>
            </a:r>
            <a:endParaRPr sz="35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2177" y="4392574"/>
            <a:ext cx="5645823" cy="56458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220" dirty="0"/>
              <a:t>AO METHODS</a:t>
            </a:r>
            <a:endParaRPr spc="2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5226" y="3062661"/>
            <a:ext cx="5137324" cy="51855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860" y="3062661"/>
            <a:ext cx="5135300" cy="51857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9980" y="3062661"/>
            <a:ext cx="5162931" cy="51857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494" y="8395111"/>
            <a:ext cx="2526030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SCREEN</a:t>
            </a:r>
            <a:r>
              <a:rPr sz="2800" b="0" spc="5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SPACE</a:t>
            </a:r>
            <a:endParaRPr sz="2800">
              <a:latin typeface="Poppins Light"/>
              <a:cs typeface="Poppins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8259" y="8395111"/>
            <a:ext cx="2752090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HORIZON</a:t>
            </a:r>
            <a:r>
              <a:rPr sz="2800" b="0" spc="5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BASED</a:t>
            </a:r>
            <a:endParaRPr sz="2800">
              <a:latin typeface="Poppins Light"/>
              <a:cs typeface="Poppins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604" y="8395111"/>
            <a:ext cx="2703195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GROUND</a:t>
            </a:r>
            <a:r>
              <a:rPr sz="2800" b="0" spc="120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TRUTH</a:t>
            </a:r>
            <a:endParaRPr sz="2800">
              <a:latin typeface="Poppins Light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08313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3156" y="402601"/>
            <a:ext cx="7682230" cy="201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AMBIENT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156" y="1861316"/>
            <a:ext cx="11062335" cy="201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50" b="1" spc="135" dirty="0">
                <a:solidFill>
                  <a:srgbClr val="466C8A"/>
                </a:solidFill>
                <a:latin typeface="Poppins"/>
                <a:cs typeface="Poppins"/>
              </a:rPr>
              <a:t>OCCLUSION?</a:t>
            </a:r>
            <a:endParaRPr sz="13050">
              <a:latin typeface="Poppins"/>
              <a:cs typeface="Poppi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343" y="4225687"/>
            <a:ext cx="14945360" cy="3363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18820">
              <a:lnSpc>
                <a:spcPts val="7005"/>
              </a:lnSpc>
              <a:spcBef>
                <a:spcPts val="90"/>
              </a:spcBef>
            </a:pPr>
            <a:r>
              <a:rPr sz="9075" b="1" baseline="-23875" dirty="0">
                <a:solidFill>
                  <a:srgbClr val="466C8A"/>
                </a:solidFill>
                <a:latin typeface="Poppins"/>
                <a:cs typeface="Poppins"/>
              </a:rPr>
              <a:t>|</a:t>
            </a:r>
            <a:r>
              <a:rPr sz="9075" b="1" spc="397" baseline="-23875" dirty="0">
                <a:solidFill>
                  <a:srgbClr val="466C8A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It’s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when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objects</a:t>
            </a:r>
            <a:r>
              <a:rPr sz="3300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that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are</a:t>
            </a:r>
            <a:r>
              <a:rPr sz="3300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close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together</a:t>
            </a:r>
            <a:r>
              <a:rPr sz="3300" spc="1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b="1" spc="-10" dirty="0">
                <a:solidFill>
                  <a:srgbClr val="264F6F"/>
                </a:solidFill>
                <a:latin typeface="Poppins"/>
                <a:cs typeface="Poppins"/>
              </a:rPr>
              <a:t>block</a:t>
            </a:r>
            <a:endParaRPr sz="3300">
              <a:latin typeface="Poppins"/>
              <a:cs typeface="Poppins"/>
            </a:endParaRPr>
          </a:p>
          <a:p>
            <a:pPr marL="1136650">
              <a:lnSpc>
                <a:spcPts val="3704"/>
              </a:lnSpc>
            </a:pP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some</a:t>
            </a:r>
            <a:r>
              <a:rPr sz="3300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of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b="1" dirty="0">
                <a:solidFill>
                  <a:srgbClr val="264F6F"/>
                </a:solidFill>
                <a:latin typeface="Poppins"/>
                <a:cs typeface="Poppins"/>
              </a:rPr>
              <a:t>surrounding</a:t>
            </a:r>
            <a:r>
              <a:rPr sz="3300" b="1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b="1" dirty="0">
                <a:solidFill>
                  <a:srgbClr val="264F6F"/>
                </a:solidFill>
                <a:latin typeface="Poppins"/>
                <a:cs typeface="Poppins"/>
              </a:rPr>
              <a:t>light</a:t>
            </a:r>
            <a:r>
              <a:rPr sz="3300" b="1" spc="204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that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bounces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around</a:t>
            </a:r>
            <a:r>
              <a:rPr sz="3300" spc="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3300" spc="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300" spc="-10" dirty="0">
                <a:solidFill>
                  <a:srgbClr val="264F6F"/>
                </a:solidFill>
                <a:latin typeface="Poppins"/>
                <a:cs typeface="Poppins"/>
              </a:rPr>
              <a:t>scene.</a:t>
            </a:r>
            <a:endParaRPr sz="3300">
              <a:latin typeface="Poppins"/>
              <a:cs typeface="Poppins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3300">
              <a:latin typeface="Poppins"/>
              <a:cs typeface="Poppins"/>
            </a:endParaRPr>
          </a:p>
          <a:p>
            <a:pPr marL="1136650" marR="9900920" indent="-1073785">
              <a:lnSpc>
                <a:spcPct val="88400"/>
              </a:lnSpc>
              <a:tabLst>
                <a:tab pos="1136650" algn="l"/>
              </a:tabLst>
            </a:pPr>
            <a:r>
              <a:rPr sz="6825" b="1" spc="-37" baseline="-14652" dirty="0">
                <a:solidFill>
                  <a:srgbClr val="466C8A"/>
                </a:solidFill>
                <a:latin typeface="Poppins"/>
                <a:cs typeface="Poppins"/>
              </a:rPr>
              <a:t>ex:</a:t>
            </a:r>
            <a:r>
              <a:rPr sz="6825" b="1" baseline="-14652" dirty="0">
                <a:solidFill>
                  <a:srgbClr val="466C8A"/>
                </a:solidFill>
                <a:latin typeface="Poppins"/>
                <a:cs typeface="Poppins"/>
              </a:rPr>
              <a:t>	</a:t>
            </a: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Creases</a:t>
            </a:r>
            <a:r>
              <a:rPr sz="245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between</a:t>
            </a:r>
            <a:r>
              <a:rPr sz="245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spc="-10" dirty="0">
                <a:solidFill>
                  <a:srgbClr val="264F6F"/>
                </a:solidFill>
                <a:latin typeface="Poppins"/>
                <a:cs typeface="Poppins"/>
              </a:rPr>
              <a:t>fingers </a:t>
            </a: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Book</a:t>
            </a:r>
            <a:r>
              <a:rPr sz="245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spc="-20" dirty="0">
                <a:solidFill>
                  <a:srgbClr val="264F6F"/>
                </a:solidFill>
                <a:latin typeface="Poppins"/>
                <a:cs typeface="Poppins"/>
              </a:rPr>
              <a:t>fold</a:t>
            </a:r>
            <a:endParaRPr sz="2450">
              <a:latin typeface="Poppins"/>
              <a:cs typeface="Poppins"/>
            </a:endParaRPr>
          </a:p>
          <a:p>
            <a:pPr marL="1136650">
              <a:lnSpc>
                <a:spcPct val="100000"/>
              </a:lnSpc>
              <a:spcBef>
                <a:spcPts val="30"/>
              </a:spcBef>
            </a:pP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Wrinkles</a:t>
            </a:r>
            <a:r>
              <a:rPr sz="245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45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450" spc="-10" dirty="0">
                <a:solidFill>
                  <a:srgbClr val="264F6F"/>
                </a:solidFill>
                <a:latin typeface="Poppins"/>
                <a:cs typeface="Poppins"/>
              </a:rPr>
              <a:t>fabric</a:t>
            </a:r>
            <a:endParaRPr sz="2450"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AO</a:t>
            </a:r>
            <a:r>
              <a:rPr spc="470" dirty="0"/>
              <a:t> </a:t>
            </a:r>
            <a:r>
              <a:rPr spc="114" dirty="0"/>
              <a:t>IN</a:t>
            </a:r>
            <a:r>
              <a:rPr spc="470" dirty="0"/>
              <a:t> </a:t>
            </a:r>
            <a:r>
              <a:rPr spc="220" dirty="0"/>
              <a:t>GRAPHICS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3965066"/>
            <a:ext cx="10820400" cy="59531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19944" y="3035953"/>
            <a:ext cx="9448800" cy="888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70330" marR="5080" indent="-1358265">
              <a:lnSpc>
                <a:spcPct val="101099"/>
              </a:lnSpc>
              <a:spcBef>
                <a:spcPts val="90"/>
              </a:spcBef>
            </a:pP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Non-real-time</a:t>
            </a:r>
            <a:r>
              <a:rPr sz="2800" b="1" spc="9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rendering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,</a:t>
            </a:r>
            <a:r>
              <a:rPr sz="2800" spc="1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using</a:t>
            </a:r>
            <a:r>
              <a:rPr sz="2800" spc="1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precise</a:t>
            </a:r>
            <a:r>
              <a:rPr sz="2800" spc="1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ray</a:t>
            </a:r>
            <a:r>
              <a:rPr sz="2800" b="1" spc="10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spc="-10" dirty="0">
                <a:solidFill>
                  <a:srgbClr val="264F6F"/>
                </a:solidFill>
                <a:latin typeface="Poppins"/>
                <a:cs typeface="Poppins"/>
              </a:rPr>
              <a:t>tracing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,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makes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image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look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more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spc="-10" dirty="0">
                <a:solidFill>
                  <a:srgbClr val="264F6F"/>
                </a:solidFill>
                <a:latin typeface="Poppins"/>
                <a:cs typeface="Poppins"/>
              </a:rPr>
              <a:t>realistic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.</a:t>
            </a:r>
            <a:endParaRPr sz="2800"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STATIC</a:t>
            </a:r>
            <a:r>
              <a:rPr spc="480" dirty="0"/>
              <a:t> </a:t>
            </a:r>
            <a:r>
              <a:rPr spc="220" dirty="0"/>
              <a:t>SCENES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461" y="2823741"/>
            <a:ext cx="12635230" cy="19519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For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static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scenes,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AO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can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be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baked</a:t>
            </a:r>
            <a:r>
              <a:rPr sz="2800" b="1" spc="21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into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textures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This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means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AO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calculated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and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stored</a:t>
            </a:r>
            <a:r>
              <a:rPr sz="2800" b="1" spc="2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texture.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resulting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texture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can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then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be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multiplied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with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diffuse</a:t>
            </a:r>
            <a:r>
              <a:rPr sz="2800" b="1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spc="-10" dirty="0">
                <a:solidFill>
                  <a:srgbClr val="264F6F"/>
                </a:solidFill>
                <a:latin typeface="Poppins"/>
                <a:cs typeface="Poppins"/>
              </a:rPr>
              <a:t>texture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.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1283" y="5143500"/>
            <a:ext cx="9125445" cy="45519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DYNAMIC</a:t>
            </a:r>
            <a:r>
              <a:rPr spc="475" dirty="0"/>
              <a:t> </a:t>
            </a:r>
            <a:r>
              <a:rPr spc="220" dirty="0"/>
              <a:t>SCENES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461" y="2823741"/>
            <a:ext cx="7750175" cy="12045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scene</a:t>
            </a:r>
            <a:r>
              <a:rPr sz="2800" spc="9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changes</a:t>
            </a:r>
            <a:r>
              <a:rPr sz="2800" spc="9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every</a:t>
            </a:r>
            <a:r>
              <a:rPr sz="2800" b="1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spc="-10" dirty="0">
                <a:solidFill>
                  <a:srgbClr val="264F6F"/>
                </a:solidFill>
                <a:latin typeface="Poppins"/>
                <a:cs typeface="Poppins"/>
              </a:rPr>
              <a:t>frame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.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AO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must</a:t>
            </a:r>
            <a:r>
              <a:rPr sz="2800" b="1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be</a:t>
            </a:r>
            <a:r>
              <a:rPr sz="2800" b="1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b="1" dirty="0">
                <a:solidFill>
                  <a:srgbClr val="264F6F"/>
                </a:solidFill>
                <a:latin typeface="Poppins"/>
                <a:cs typeface="Poppins"/>
              </a:rPr>
              <a:t>recalculated</a:t>
            </a:r>
            <a:r>
              <a:rPr sz="2800" b="1" spc="23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for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each</a:t>
            </a:r>
            <a:r>
              <a:rPr sz="2800" spc="8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frame.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9300" y="4433900"/>
            <a:ext cx="6629400" cy="51504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SCREEN</a:t>
            </a:r>
            <a:r>
              <a:rPr spc="450" dirty="0"/>
              <a:t> </a:t>
            </a:r>
            <a:r>
              <a:rPr spc="180" dirty="0"/>
              <a:t>SPACE</a:t>
            </a:r>
            <a:r>
              <a:rPr spc="490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7681" y="4889554"/>
            <a:ext cx="3823335" cy="19519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Deferred</a:t>
            </a:r>
            <a:r>
              <a:rPr sz="2800" spc="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rendering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G-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Buffer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Everything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space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3750" y="2889452"/>
            <a:ext cx="8496012" cy="6388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SCREEN</a:t>
            </a:r>
            <a:r>
              <a:rPr spc="450" dirty="0"/>
              <a:t> </a:t>
            </a:r>
            <a:r>
              <a:rPr spc="180" dirty="0"/>
              <a:t>SPACE</a:t>
            </a:r>
            <a:r>
              <a:rPr spc="490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114" y="4743159"/>
            <a:ext cx="6657340" cy="19519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Project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dome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direction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of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normal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Project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number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of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sample</a:t>
            </a:r>
            <a:r>
              <a:rPr sz="2800" spc="5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points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11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percentage</a:t>
            </a:r>
            <a:r>
              <a:rPr sz="2800" spc="114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of</a:t>
            </a:r>
            <a:r>
              <a:rPr sz="2800" spc="114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occlusion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50" y="3429000"/>
            <a:ext cx="9620237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HORIZON</a:t>
            </a:r>
            <a:r>
              <a:rPr spc="490" dirty="0"/>
              <a:t> </a:t>
            </a:r>
            <a:r>
              <a:rPr spc="180" dirty="0"/>
              <a:t>BASED</a:t>
            </a:r>
            <a:r>
              <a:rPr spc="484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414" y="4492435"/>
            <a:ext cx="6026785" cy="26993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Sample</a:t>
            </a:r>
            <a:r>
              <a:rPr sz="2800" spc="8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800" spc="8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random</a:t>
            </a:r>
            <a:r>
              <a:rPr sz="2800" spc="8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direction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1D</a:t>
            </a:r>
            <a:r>
              <a:rPr sz="2800" spc="3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depthfield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March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depthfield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114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highest</a:t>
            </a:r>
            <a:r>
              <a:rPr sz="2800" spc="1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horizon</a:t>
            </a:r>
            <a:r>
              <a:rPr sz="2800" spc="1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angle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0744" y="3543300"/>
            <a:ext cx="8772524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HORIZON</a:t>
            </a:r>
            <a:r>
              <a:rPr spc="490" dirty="0"/>
              <a:t> </a:t>
            </a:r>
            <a:r>
              <a:rPr spc="180" dirty="0"/>
              <a:t>BASED</a:t>
            </a:r>
            <a:r>
              <a:rPr spc="484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414" y="4492435"/>
            <a:ext cx="6952615" cy="26993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14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tangent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Subtract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sin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tangent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from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sin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horizon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Do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this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</a:t>
            </a:r>
            <a:r>
              <a:rPr sz="2800" spc="6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multiple</a:t>
            </a:r>
            <a:r>
              <a:rPr sz="2800" spc="6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directions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Take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average</a:t>
            </a:r>
            <a:endParaRPr sz="2800">
              <a:latin typeface="Poppins"/>
              <a:cs typeface="Poppi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2890837"/>
            <a:ext cx="7381875" cy="6772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GROUND</a:t>
            </a:r>
            <a:r>
              <a:rPr spc="455" dirty="0"/>
              <a:t> </a:t>
            </a:r>
            <a:r>
              <a:rPr spc="180" dirty="0"/>
              <a:t>TRUTH</a:t>
            </a:r>
            <a:r>
              <a:rPr spc="484" dirty="0"/>
              <a:t> </a:t>
            </a:r>
            <a:r>
              <a:rPr spc="204" dirty="0"/>
              <a:t>AO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156" y="3755936"/>
            <a:ext cx="7997825" cy="34467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view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vector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Divide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dome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into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slices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around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view</a:t>
            </a:r>
            <a:r>
              <a:rPr sz="2800" spc="7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vector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12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horizon</a:t>
            </a:r>
            <a:r>
              <a:rPr sz="2800" spc="12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angles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Calculate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equation</a:t>
            </a:r>
            <a:r>
              <a:rPr sz="2800" spc="9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for</a:t>
            </a:r>
            <a:r>
              <a:rPr sz="2800" spc="9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directions</a:t>
            </a:r>
            <a:endParaRPr sz="2800">
              <a:latin typeface="Poppins"/>
              <a:cs typeface="Poppins"/>
            </a:endParaRPr>
          </a:p>
          <a:p>
            <a:pPr marL="317500" indent="-304800">
              <a:lnSpc>
                <a:spcPct val="100000"/>
              </a:lnSpc>
              <a:spcBef>
                <a:spcPts val="2525"/>
              </a:spcBef>
              <a:buFont typeface="DejaVu Serif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264F6F"/>
                </a:solidFill>
                <a:latin typeface="Poppins"/>
                <a:cs typeface="Poppins"/>
              </a:rPr>
              <a:t>Take</a:t>
            </a:r>
            <a:r>
              <a:rPr sz="2800" spc="70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2800" spc="-10" dirty="0">
                <a:solidFill>
                  <a:srgbClr val="264F6F"/>
                </a:solidFill>
                <a:latin typeface="Poppins"/>
                <a:cs typeface="Poppins"/>
              </a:rPr>
              <a:t>average</a:t>
            </a:r>
            <a:endParaRPr sz="2800">
              <a:latin typeface="Poppins"/>
              <a:cs typeface="Poppi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44000" y="2628900"/>
            <a:ext cx="8153400" cy="6943725"/>
            <a:chOff x="9144000" y="2628900"/>
            <a:chExt cx="8153400" cy="6943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2628900"/>
              <a:ext cx="8153400" cy="5029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3537" y="7658100"/>
              <a:ext cx="7934325" cy="19145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5226" y="3062661"/>
            <a:ext cx="5137324" cy="51855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860" y="3062661"/>
            <a:ext cx="5135300" cy="51857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9980" y="3062661"/>
            <a:ext cx="5162931" cy="51857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494" y="8395111"/>
            <a:ext cx="2526030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SCREEN</a:t>
            </a:r>
            <a:r>
              <a:rPr sz="2800" b="0" spc="5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SPACE</a:t>
            </a:r>
            <a:endParaRPr sz="2800">
              <a:latin typeface="Poppins Light"/>
              <a:cs typeface="Poppins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8259" y="8395111"/>
            <a:ext cx="2752090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HORIZON</a:t>
            </a:r>
            <a:r>
              <a:rPr sz="2800" b="0" spc="5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BASED</a:t>
            </a:r>
            <a:endParaRPr sz="2800">
              <a:latin typeface="Poppins Light"/>
              <a:cs typeface="Poppins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604" y="8395111"/>
            <a:ext cx="2703195" cy="457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0" dirty="0">
                <a:solidFill>
                  <a:srgbClr val="264F6F"/>
                </a:solidFill>
                <a:latin typeface="Poppins Light"/>
                <a:cs typeface="Poppins Light"/>
              </a:rPr>
              <a:t>GROUND</a:t>
            </a:r>
            <a:r>
              <a:rPr sz="2800" b="0" spc="120" dirty="0">
                <a:solidFill>
                  <a:srgbClr val="264F6F"/>
                </a:solidFill>
                <a:latin typeface="Poppins Light"/>
                <a:cs typeface="Poppins Light"/>
              </a:rPr>
              <a:t> </a:t>
            </a:r>
            <a:r>
              <a:rPr sz="2800" b="0" spc="-10" dirty="0">
                <a:solidFill>
                  <a:srgbClr val="264F6F"/>
                </a:solidFill>
                <a:latin typeface="Poppins Light"/>
                <a:cs typeface="Poppins Light"/>
              </a:rPr>
              <a:t>TRUTH</a:t>
            </a:r>
            <a:endParaRPr sz="2800">
              <a:latin typeface="Poppins Light"/>
              <a:cs typeface="Poppi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MEASUREMENTS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7731" y="4101142"/>
            <a:ext cx="3374390" cy="3549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14655" indent="-401955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414655" algn="l"/>
              </a:tabLst>
            </a:pPr>
            <a:r>
              <a:rPr sz="3700" spc="-10" dirty="0">
                <a:solidFill>
                  <a:srgbClr val="264F6F"/>
                </a:solidFill>
                <a:latin typeface="Poppins"/>
                <a:cs typeface="Poppins"/>
              </a:rPr>
              <a:t>Framerate</a:t>
            </a:r>
            <a:endParaRPr sz="3700">
              <a:latin typeface="Poppins"/>
              <a:cs typeface="Poppins"/>
            </a:endParaRPr>
          </a:p>
          <a:p>
            <a:pPr marL="414655" indent="-401955">
              <a:lnSpc>
                <a:spcPct val="100000"/>
              </a:lnSpc>
              <a:spcBef>
                <a:spcPts val="3315"/>
              </a:spcBef>
              <a:buFont typeface="DejaVu Serif"/>
              <a:buChar char="•"/>
              <a:tabLst>
                <a:tab pos="414655" algn="l"/>
              </a:tabLst>
            </a:pPr>
            <a:r>
              <a:rPr sz="3700" dirty="0">
                <a:solidFill>
                  <a:srgbClr val="264F6F"/>
                </a:solidFill>
                <a:latin typeface="Poppins"/>
                <a:cs typeface="Poppins"/>
              </a:rPr>
              <a:t>CPU</a:t>
            </a:r>
            <a:r>
              <a:rPr sz="3700" spc="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700" spc="-10" dirty="0">
                <a:solidFill>
                  <a:srgbClr val="264F6F"/>
                </a:solidFill>
                <a:latin typeface="Poppins"/>
                <a:cs typeface="Poppins"/>
              </a:rPr>
              <a:t>usage</a:t>
            </a:r>
            <a:endParaRPr sz="3700">
              <a:latin typeface="Poppins"/>
              <a:cs typeface="Poppins"/>
            </a:endParaRPr>
          </a:p>
          <a:p>
            <a:pPr marL="414655" indent="-401955">
              <a:lnSpc>
                <a:spcPct val="100000"/>
              </a:lnSpc>
              <a:spcBef>
                <a:spcPts val="3320"/>
              </a:spcBef>
              <a:buFont typeface="DejaVu Serif"/>
              <a:buChar char="•"/>
              <a:tabLst>
                <a:tab pos="414655" algn="l"/>
              </a:tabLst>
            </a:pPr>
            <a:r>
              <a:rPr sz="3700" dirty="0">
                <a:solidFill>
                  <a:srgbClr val="264F6F"/>
                </a:solidFill>
                <a:latin typeface="Poppins"/>
                <a:cs typeface="Poppins"/>
              </a:rPr>
              <a:t>VRAM</a:t>
            </a:r>
            <a:r>
              <a:rPr sz="3700" spc="5" dirty="0">
                <a:solidFill>
                  <a:srgbClr val="264F6F"/>
                </a:solidFill>
                <a:latin typeface="Poppins"/>
                <a:cs typeface="Poppins"/>
              </a:rPr>
              <a:t> </a:t>
            </a:r>
            <a:r>
              <a:rPr sz="3700" spc="-10" dirty="0">
                <a:solidFill>
                  <a:srgbClr val="264F6F"/>
                </a:solidFill>
                <a:latin typeface="Poppins"/>
                <a:cs typeface="Poppins"/>
              </a:rPr>
              <a:t>usage</a:t>
            </a:r>
            <a:endParaRPr sz="3700">
              <a:latin typeface="Poppins"/>
              <a:cs typeface="Poppins"/>
            </a:endParaRPr>
          </a:p>
          <a:p>
            <a:pPr marL="414655" indent="-401955">
              <a:lnSpc>
                <a:spcPct val="100000"/>
              </a:lnSpc>
              <a:spcBef>
                <a:spcPts val="3315"/>
              </a:spcBef>
              <a:buFont typeface="DejaVu Serif"/>
              <a:buChar char="•"/>
              <a:tabLst>
                <a:tab pos="414655" algn="l"/>
              </a:tabLst>
            </a:pPr>
            <a:r>
              <a:rPr sz="3700" spc="-10" dirty="0">
                <a:solidFill>
                  <a:srgbClr val="264F6F"/>
                </a:solidFill>
                <a:latin typeface="Poppins"/>
                <a:cs typeface="Poppins"/>
              </a:rPr>
              <a:t>Visuals</a:t>
            </a:r>
            <a:endParaRPr sz="3700"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FRAMERATE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54" y="2653094"/>
            <a:ext cx="6863246" cy="32618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2653093"/>
            <a:ext cx="7281377" cy="32924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5900" y="6596062"/>
            <a:ext cx="7696200" cy="3348038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1227232-9414-4FE9-9F0C-1E42B3EC46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2435595"/>
              </p:ext>
            </p:extLst>
          </p:nvPr>
        </p:nvGraphicFramePr>
        <p:xfrm>
          <a:off x="5295900" y="6181141"/>
          <a:ext cx="7658100" cy="37032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CPU</a:t>
            </a:r>
            <a:r>
              <a:rPr spc="480" dirty="0"/>
              <a:t> </a:t>
            </a:r>
            <a:r>
              <a:rPr spc="220" dirty="0"/>
              <a:t>USAGE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417" y="2281618"/>
            <a:ext cx="6419837" cy="39052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5629" y="1995868"/>
            <a:ext cx="6896098" cy="41909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67375" y="6274958"/>
            <a:ext cx="6953250" cy="38957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VRAM</a:t>
            </a:r>
            <a:r>
              <a:rPr spc="470" dirty="0"/>
              <a:t> </a:t>
            </a:r>
            <a:r>
              <a:rPr spc="220" dirty="0"/>
              <a:t>USAGE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860" y="2262187"/>
            <a:ext cx="16440150" cy="7781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VISUALS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2025" y="6263055"/>
            <a:ext cx="9258300" cy="37528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2588" y="2364770"/>
            <a:ext cx="3731429" cy="3707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00116" y="2364778"/>
            <a:ext cx="3662753" cy="3707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48850" y="2364778"/>
            <a:ext cx="3662751" cy="3707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97619" y="2364778"/>
            <a:ext cx="3707744" cy="37077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VISUALS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1550" y="5824911"/>
            <a:ext cx="9010650" cy="41433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5625" y="2450500"/>
            <a:ext cx="3201503" cy="32315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2669" y="2450500"/>
            <a:ext cx="3200197" cy="32316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98009" y="2450503"/>
            <a:ext cx="3217147" cy="32313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36245" indent="-401955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436245" algn="l"/>
              </a:tabLst>
            </a:pPr>
            <a:r>
              <a:rPr dirty="0"/>
              <a:t>CPU</a:t>
            </a:r>
            <a:r>
              <a:rPr spc="5" dirty="0"/>
              <a:t> </a:t>
            </a:r>
            <a:r>
              <a:rPr b="0" dirty="0">
                <a:latin typeface="Poppins"/>
                <a:cs typeface="Poppins"/>
              </a:rPr>
              <a:t>and</a:t>
            </a:r>
            <a:r>
              <a:rPr b="0" spc="-200" dirty="0">
                <a:latin typeface="Poppins"/>
                <a:cs typeface="Poppins"/>
              </a:rPr>
              <a:t> </a:t>
            </a:r>
            <a:r>
              <a:rPr dirty="0"/>
              <a:t>VRAM</a:t>
            </a:r>
            <a:r>
              <a:rPr spc="5" dirty="0"/>
              <a:t> </a:t>
            </a:r>
            <a:r>
              <a:rPr b="0" dirty="0">
                <a:latin typeface="Poppins"/>
                <a:cs typeface="Poppins"/>
              </a:rPr>
              <a:t>are</a:t>
            </a:r>
            <a:r>
              <a:rPr b="0" spc="5" dirty="0">
                <a:latin typeface="Poppins"/>
                <a:cs typeface="Poppins"/>
              </a:rPr>
              <a:t> </a:t>
            </a:r>
            <a:r>
              <a:rPr dirty="0"/>
              <a:t>not</a:t>
            </a:r>
            <a:r>
              <a:rPr spc="5" dirty="0"/>
              <a:t> </a:t>
            </a:r>
            <a:r>
              <a:rPr spc="-10" dirty="0"/>
              <a:t>factors</a:t>
            </a:r>
          </a:p>
          <a:p>
            <a:pPr marL="436245" indent="-401955">
              <a:lnSpc>
                <a:spcPct val="100000"/>
              </a:lnSpc>
              <a:spcBef>
                <a:spcPts val="3315"/>
              </a:spcBef>
              <a:buFont typeface="DejaVu Serif"/>
              <a:buChar char="•"/>
              <a:tabLst>
                <a:tab pos="436245" algn="l"/>
              </a:tabLst>
            </a:pPr>
            <a:r>
              <a:rPr b="0" dirty="0">
                <a:latin typeface="Poppins Light"/>
                <a:cs typeface="Poppins Light"/>
              </a:rPr>
              <a:t>Framerate</a:t>
            </a:r>
            <a:r>
              <a:rPr b="0" dirty="0">
                <a:latin typeface="Poppins"/>
                <a:cs typeface="Poppins"/>
              </a:rPr>
              <a:t>:</a:t>
            </a:r>
            <a:r>
              <a:rPr b="0" spc="5" dirty="0">
                <a:latin typeface="Poppins"/>
                <a:cs typeface="Poppins"/>
              </a:rPr>
              <a:t> </a:t>
            </a:r>
            <a:r>
              <a:rPr dirty="0"/>
              <a:t>HBAO</a:t>
            </a:r>
            <a:r>
              <a:rPr spc="5" dirty="0"/>
              <a:t> </a:t>
            </a:r>
            <a:r>
              <a:rPr b="0" dirty="0">
                <a:latin typeface="Poppins"/>
                <a:cs typeface="Poppins"/>
              </a:rPr>
              <a:t>and</a:t>
            </a:r>
            <a:r>
              <a:rPr b="0" spc="-200" dirty="0">
                <a:latin typeface="Poppins"/>
                <a:cs typeface="Poppins"/>
              </a:rPr>
              <a:t> </a:t>
            </a:r>
            <a:r>
              <a:rPr spc="-20" dirty="0"/>
              <a:t>GTAO</a:t>
            </a:r>
          </a:p>
          <a:p>
            <a:pPr marL="436245" indent="-401955">
              <a:lnSpc>
                <a:spcPct val="100000"/>
              </a:lnSpc>
              <a:spcBef>
                <a:spcPts val="3320"/>
              </a:spcBef>
              <a:buFont typeface="DejaVu Serif"/>
              <a:buChar char="•"/>
              <a:tabLst>
                <a:tab pos="436245" algn="l"/>
              </a:tabLst>
            </a:pPr>
            <a:r>
              <a:rPr b="0" dirty="0">
                <a:latin typeface="Poppins Light"/>
                <a:cs typeface="Poppins Light"/>
              </a:rPr>
              <a:t>Visuals:</a:t>
            </a:r>
            <a:r>
              <a:rPr b="0" spc="-20" dirty="0">
                <a:latin typeface="Poppins Light"/>
                <a:cs typeface="Poppins Light"/>
              </a:rPr>
              <a:t> </a:t>
            </a:r>
            <a:r>
              <a:rPr dirty="0"/>
              <a:t>GTAO</a:t>
            </a:r>
            <a:r>
              <a:rPr spc="5" dirty="0"/>
              <a:t> </a:t>
            </a:r>
            <a:r>
              <a:rPr b="0" dirty="0">
                <a:latin typeface="Poppins"/>
                <a:cs typeface="Poppins"/>
              </a:rPr>
              <a:t>first,</a:t>
            </a:r>
            <a:r>
              <a:rPr b="0" spc="-200" dirty="0">
                <a:latin typeface="Poppins"/>
                <a:cs typeface="Poppins"/>
              </a:rPr>
              <a:t> </a:t>
            </a:r>
            <a:r>
              <a:rPr dirty="0"/>
              <a:t>SSAO</a:t>
            </a:r>
            <a:r>
              <a:rPr spc="210" dirty="0"/>
              <a:t> </a:t>
            </a:r>
            <a:r>
              <a:rPr b="0" spc="-10" dirty="0">
                <a:latin typeface="Poppins"/>
                <a:cs typeface="Poppins"/>
              </a:rPr>
              <a:t>second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130" dirty="0"/>
              <a:t>FUTURE WORK</a:t>
            </a:r>
            <a:endParaRPr spc="13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140528" y="4210131"/>
            <a:ext cx="8006943" cy="21480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36245" indent="-401955">
              <a:lnSpc>
                <a:spcPct val="100000"/>
              </a:lnSpc>
              <a:spcBef>
                <a:spcPts val="130"/>
              </a:spcBef>
              <a:buFont typeface="DejaVu Serif"/>
              <a:buChar char="•"/>
              <a:tabLst>
                <a:tab pos="436245" algn="l"/>
              </a:tabLst>
            </a:pPr>
            <a:r>
              <a:rPr lang="en-GB" b="0" dirty="0"/>
              <a:t>More AO methods</a:t>
            </a:r>
            <a:endParaRPr b="0" spc="-10" dirty="0"/>
          </a:p>
          <a:p>
            <a:pPr marL="436245" indent="-401955">
              <a:lnSpc>
                <a:spcPct val="100000"/>
              </a:lnSpc>
              <a:spcBef>
                <a:spcPts val="3315"/>
              </a:spcBef>
              <a:buFont typeface="DejaVu Serif"/>
              <a:buChar char="•"/>
              <a:tabLst>
                <a:tab pos="436245" algn="l"/>
              </a:tabLst>
            </a:pPr>
            <a:r>
              <a:rPr lang="en-GB" b="0" spc="-20" dirty="0"/>
              <a:t>More optimization for shorter </a:t>
            </a:r>
            <a:r>
              <a:rPr lang="en-GB" b="0" spc="-20" dirty="0" err="1"/>
              <a:t>frametime</a:t>
            </a:r>
            <a:endParaRPr b="0" spc="-10" dirty="0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78338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093" y="2430936"/>
            <a:ext cx="10316210" cy="493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575"/>
              </a:lnSpc>
              <a:spcBef>
                <a:spcPts val="100"/>
              </a:spcBef>
            </a:pPr>
            <a:r>
              <a:rPr sz="13050" b="1" spc="180" dirty="0">
                <a:solidFill>
                  <a:srgbClr val="466C8A"/>
                </a:solidFill>
                <a:latin typeface="Poppins"/>
                <a:cs typeface="Poppins"/>
              </a:rPr>
              <a:t>THANK</a:t>
            </a:r>
            <a:r>
              <a:rPr sz="13050" b="1" spc="490" dirty="0">
                <a:solidFill>
                  <a:srgbClr val="466C8A"/>
                </a:solidFill>
                <a:latin typeface="Poppins"/>
                <a:cs typeface="Poppins"/>
              </a:rPr>
              <a:t> </a:t>
            </a:r>
            <a:r>
              <a:rPr sz="13050" b="1" spc="110" dirty="0">
                <a:solidFill>
                  <a:srgbClr val="466C8A"/>
                </a:solidFill>
                <a:latin typeface="Poppins"/>
                <a:cs typeface="Poppins"/>
              </a:rPr>
              <a:t>YOU</a:t>
            </a:r>
            <a:endParaRPr sz="13050">
              <a:latin typeface="Poppins"/>
              <a:cs typeface="Poppins"/>
            </a:endParaRPr>
          </a:p>
          <a:p>
            <a:pPr marL="12700">
              <a:lnSpc>
                <a:spcPts val="11485"/>
              </a:lnSpc>
            </a:pPr>
            <a:r>
              <a:rPr sz="13050" b="1" spc="65" dirty="0">
                <a:solidFill>
                  <a:srgbClr val="466C8A"/>
                </a:solidFill>
                <a:latin typeface="Poppins"/>
                <a:cs typeface="Poppins"/>
              </a:rPr>
              <a:t>FOR</a:t>
            </a:r>
            <a:r>
              <a:rPr sz="13050" b="1" spc="475" dirty="0">
                <a:solidFill>
                  <a:srgbClr val="466C8A"/>
                </a:solidFill>
                <a:latin typeface="Poppins"/>
                <a:cs typeface="Poppins"/>
              </a:rPr>
              <a:t> </a:t>
            </a:r>
            <a:r>
              <a:rPr sz="13050" b="1" spc="114" dirty="0">
                <a:solidFill>
                  <a:srgbClr val="466C8A"/>
                </a:solidFill>
                <a:latin typeface="Poppins"/>
                <a:cs typeface="Poppins"/>
              </a:rPr>
              <a:t>YOUR</a:t>
            </a:r>
            <a:endParaRPr sz="13050">
              <a:latin typeface="Poppins"/>
              <a:cs typeface="Poppins"/>
            </a:endParaRPr>
          </a:p>
          <a:p>
            <a:pPr marL="12700">
              <a:lnSpc>
                <a:spcPts val="13575"/>
              </a:lnSpc>
            </a:pPr>
            <a:r>
              <a:rPr sz="13050" b="1" spc="220" dirty="0">
                <a:solidFill>
                  <a:srgbClr val="466C8A"/>
                </a:solidFill>
                <a:latin typeface="Poppins"/>
                <a:cs typeface="Poppins"/>
              </a:rPr>
              <a:t>ATTENTION!</a:t>
            </a:r>
            <a:endParaRPr sz="13050">
              <a:latin typeface="Poppins"/>
              <a:cs typeface="Poppin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0430" y="7334453"/>
            <a:ext cx="2447569" cy="2952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298</Words>
  <Application>Microsoft Office PowerPoint</Application>
  <PresentationFormat>Custom</PresentationFormat>
  <Paragraphs>83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DejaVu Serif</vt:lpstr>
      <vt:lpstr>Poppins</vt:lpstr>
      <vt:lpstr>Poppins Light</vt:lpstr>
      <vt:lpstr>Office Theme</vt:lpstr>
      <vt:lpstr>The Impact of AO Generation Methods on Real-Time Rendering</vt:lpstr>
      <vt:lpstr>AO METHODS</vt:lpstr>
      <vt:lpstr>AMBIENT</vt:lpstr>
      <vt:lpstr>AO IN GRAPHICS</vt:lpstr>
      <vt:lpstr>STATIC SCENES</vt:lpstr>
      <vt:lpstr>DYNAMIC SCENES</vt:lpstr>
      <vt:lpstr>SCREEN SPACE AO</vt:lpstr>
      <vt:lpstr>SCREEN SPACE AO</vt:lpstr>
      <vt:lpstr>HORIZON BASED AO</vt:lpstr>
      <vt:lpstr>HORIZON BASED AO</vt:lpstr>
      <vt:lpstr>GROUND TRUTH AO</vt:lpstr>
      <vt:lpstr>RESULTS</vt:lpstr>
      <vt:lpstr>MEASUREMENTS</vt:lpstr>
      <vt:lpstr>FRAMERATE</vt:lpstr>
      <vt:lpstr>CPU USAGE</vt:lpstr>
      <vt:lpstr>VRAM USAGE</vt:lpstr>
      <vt:lpstr>VISUALS</vt:lpstr>
      <vt:lpstr>VISUALS</vt:lpstr>
      <vt:lpstr>CONCLUSION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- 19 August 2025 at 14.55.19</dc:title>
  <cp:lastModifiedBy>Daan Demaecker</cp:lastModifiedBy>
  <cp:revision>4</cp:revision>
  <dcterms:created xsi:type="dcterms:W3CDTF">2025-08-19T14:33:29Z</dcterms:created>
  <dcterms:modified xsi:type="dcterms:W3CDTF">2025-08-19T16:16:31Z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2025-08-19T00:00:00Z</vt:filetime>
  </property>
  <property fmtid="{D5CDD505-2E9C-101B-9397-08002B2CF9AE}" pid="3" name="Creator">
    <vt:lpwstr>Adobe Express</vt:lpwstr>
  </property>
  <property fmtid="{D5CDD505-2E9C-101B-9397-08002B2CF9AE}" pid="4" name="LastSaved">
    <vt:filetime>2025-08-19T00:00:00Z</vt:filetime>
  </property>
  <property fmtid="{D5CDD505-2E9C-101B-9397-08002B2CF9AE}" pid="5" name="Producer">
    <vt:lpwstr>Adobe Express</vt:lpwstr>
  </property>
</Properties>
</file>