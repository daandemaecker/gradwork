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>
        <p:scale>
          <a:sx n="75" d="100"/>
          <a:sy n="75" d="100"/>
        </p:scale>
        <p:origin x="965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800*600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Frametime!$B$3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Frametime!$C$3:$F$3</c:f>
              <c:numCache>
                <c:formatCode>General</c:formatCode>
                <c:ptCount val="4"/>
                <c:pt idx="0">
                  <c:v>8.8779200000000003E-2</c:v>
                </c:pt>
                <c:pt idx="1">
                  <c:v>0.33969280000000002</c:v>
                </c:pt>
                <c:pt idx="2">
                  <c:v>1.3297664</c:v>
                </c:pt>
                <c:pt idx="3">
                  <c:v>18.751999999999999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FC-40DD-A146-99EF66E50863}"/>
            </c:ext>
          </c:extLst>
        </c:ser>
        <c:ser>
          <c:idx val="1"/>
          <c:order val="1"/>
          <c:tx>
            <c:strRef>
              <c:f>Frametime!$B$4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Frametime!$C$4:$F$4</c:f>
              <c:numCache>
                <c:formatCode>General</c:formatCode>
                <c:ptCount val="4"/>
                <c:pt idx="0">
                  <c:v>8.3660800000000007E-2</c:v>
                </c:pt>
                <c:pt idx="1">
                  <c:v>0.25077760000000004</c:v>
                </c:pt>
                <c:pt idx="2">
                  <c:v>0.93603759999999991</c:v>
                </c:pt>
                <c:pt idx="3">
                  <c:v>11.729510400000001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FC-40DD-A146-99EF66E50863}"/>
            </c:ext>
          </c:extLst>
        </c:ser>
        <c:ser>
          <c:idx val="2"/>
          <c:order val="2"/>
          <c:tx>
            <c:strRef>
              <c:f>Frametime!$B$5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Frametime!$C$5:$F$5</c:f>
              <c:numCache>
                <c:formatCode>General</c:formatCode>
                <c:ptCount val="4"/>
                <c:pt idx="0">
                  <c:v>5.1360000000000003E-2</c:v>
                </c:pt>
                <c:pt idx="1">
                  <c:v>0.19896320000000001</c:v>
                </c:pt>
                <c:pt idx="2">
                  <c:v>0.79708160000000006</c:v>
                </c:pt>
                <c:pt idx="3">
                  <c:v>10.8780544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FC-40DD-A146-99EF66E508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4388192"/>
        <c:axId val="424385280"/>
      </c:lineChart>
      <c:catAx>
        <c:axId val="4243881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4385280"/>
        <c:crosses val="autoZero"/>
        <c:auto val="1"/>
        <c:lblAlgn val="ctr"/>
        <c:lblOffset val="100"/>
        <c:noMultiLvlLbl val="0"/>
      </c:catAx>
      <c:valAx>
        <c:axId val="4243852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frammetime in ms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4388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1920*991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2378624472888753E-2"/>
          <c:y val="0.16708333333333336"/>
          <c:w val="0.90286351706036749"/>
          <c:h val="0.61498432487605714"/>
        </c:manualLayout>
      </c:layout>
      <c:lineChart>
        <c:grouping val="standard"/>
        <c:varyColors val="0"/>
        <c:ser>
          <c:idx val="0"/>
          <c:order val="0"/>
          <c:tx>
            <c:strRef>
              <c:f>Frametime!$B$8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Frametime!$C$7:$F$7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Frametime!$C$8:$F$8</c:f>
              <c:numCache>
                <c:formatCode>General</c:formatCode>
                <c:ptCount val="4"/>
                <c:pt idx="0">
                  <c:v>0.32061439999999997</c:v>
                </c:pt>
                <c:pt idx="1">
                  <c:v>1.2341248</c:v>
                </c:pt>
                <c:pt idx="2">
                  <c:v>4.8957440000000005</c:v>
                </c:pt>
                <c:pt idx="3">
                  <c:v>80.826060800000008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45-4ACD-B6B9-56225051B668}"/>
            </c:ext>
          </c:extLst>
        </c:ser>
        <c:ser>
          <c:idx val="1"/>
          <c:order val="1"/>
          <c:tx>
            <c:strRef>
              <c:f>Frametime!$B$9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Frametime!$C$7:$F$7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Frametime!$C$9:$F$9</c:f>
              <c:numCache>
                <c:formatCode>General</c:formatCode>
                <c:ptCount val="4"/>
                <c:pt idx="0">
                  <c:v>0.31262719999999994</c:v>
                </c:pt>
                <c:pt idx="1">
                  <c:v>0.91135999999999995</c:v>
                </c:pt>
                <c:pt idx="2">
                  <c:v>3.3211391999999997</c:v>
                </c:pt>
                <c:pt idx="3">
                  <c:v>39.007024799999996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45-4ACD-B6B9-56225051B668}"/>
            </c:ext>
          </c:extLst>
        </c:ser>
        <c:ser>
          <c:idx val="2"/>
          <c:order val="2"/>
          <c:tx>
            <c:strRef>
              <c:f>Frametime!$B$10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Frametime!$C$7:$F$7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Frametime!$C$10:$F$10</c:f>
              <c:numCache>
                <c:formatCode>General</c:formatCode>
                <c:ptCount val="4"/>
                <c:pt idx="0">
                  <c:v>0.19968000000000002</c:v>
                </c:pt>
                <c:pt idx="1">
                  <c:v>0.76892159999999998</c:v>
                </c:pt>
                <c:pt idx="2">
                  <c:v>3.0722047999999997</c:v>
                </c:pt>
                <c:pt idx="3">
                  <c:v>40.867430399999996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145-4ACD-B6B9-56225051B6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7913680"/>
        <c:axId val="427911600"/>
      </c:lineChart>
      <c:catAx>
        <c:axId val="42791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5916535433070865"/>
              <c:y val="0.84317074948964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1600"/>
        <c:crosses val="autoZero"/>
        <c:auto val="1"/>
        <c:lblAlgn val="ctr"/>
        <c:lblOffset val="100"/>
        <c:noMultiLvlLbl val="0"/>
      </c:catAx>
      <c:valAx>
        <c:axId val="427911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frametime in ms</a:t>
                </a:r>
              </a:p>
            </c:rich>
          </c:tx>
          <c:layout>
            <c:manualLayout>
              <c:xMode val="edge"/>
              <c:yMode val="edge"/>
              <c:x val="0"/>
              <c:y val="0.3811264216972878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3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3840/2054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540714422892261"/>
          <c:y val="0.16708333333333336"/>
          <c:w val="0.86983507777991165"/>
          <c:h val="0.61498432487605714"/>
        </c:manualLayout>
      </c:layout>
      <c:lineChart>
        <c:grouping val="standard"/>
        <c:varyColors val="0"/>
        <c:ser>
          <c:idx val="0"/>
          <c:order val="0"/>
          <c:tx>
            <c:strRef>
              <c:f>Frametime!$B$13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Frametime!$C$13:$F$13</c:f>
              <c:numCache>
                <c:formatCode>General</c:formatCode>
                <c:ptCount val="4"/>
                <c:pt idx="0">
                  <c:v>1.4235648000000001</c:v>
                </c:pt>
                <c:pt idx="1">
                  <c:v>5.2716544000000001</c:v>
                </c:pt>
                <c:pt idx="2">
                  <c:v>23.630131200000001</c:v>
                </c:pt>
                <c:pt idx="3">
                  <c:v>442.3408488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35-49B5-B9B5-9003CB81EBCA}"/>
            </c:ext>
          </c:extLst>
        </c:ser>
        <c:ser>
          <c:idx val="1"/>
          <c:order val="1"/>
          <c:tx>
            <c:strRef>
              <c:f>Frametime!$B$14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Frametime!$C$14:$F$14</c:f>
              <c:numCache>
                <c:formatCode>General</c:formatCode>
                <c:ptCount val="4"/>
                <c:pt idx="0">
                  <c:v>1.0431488000000002</c:v>
                </c:pt>
                <c:pt idx="1">
                  <c:v>3.3596415999999998</c:v>
                </c:pt>
                <c:pt idx="2">
                  <c:v>11.262463999999998</c:v>
                </c:pt>
                <c:pt idx="3">
                  <c:v>178.87744000000001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35-49B5-B9B5-9003CB81EBCA}"/>
            </c:ext>
          </c:extLst>
        </c:ser>
        <c:ser>
          <c:idx val="2"/>
          <c:order val="2"/>
          <c:tx>
            <c:strRef>
              <c:f>Frametime!$B$15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Frametime!$C$15:$F$15</c:f>
              <c:numCache>
                <c:formatCode>General</c:formatCode>
                <c:ptCount val="4"/>
                <c:pt idx="0">
                  <c:v>0.84520964999999992</c:v>
                </c:pt>
                <c:pt idx="1">
                  <c:v>3.1763295999999999</c:v>
                </c:pt>
                <c:pt idx="2">
                  <c:v>11.7888</c:v>
                </c:pt>
                <c:pt idx="3">
                  <c:v>214.09148535999998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35-49B5-B9B5-9003CB81EB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7913680"/>
        <c:axId val="427911600"/>
      </c:lineChart>
      <c:catAx>
        <c:axId val="42791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5916535433070865"/>
              <c:y val="0.84317074948964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1600"/>
        <c:crosses val="autoZero"/>
        <c:auto val="1"/>
        <c:lblAlgn val="ctr"/>
        <c:lblOffset val="100"/>
        <c:noMultiLvlLbl val="0"/>
      </c:catAx>
      <c:valAx>
        <c:axId val="427911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Frametime</a:t>
                </a:r>
                <a:r>
                  <a:rPr lang="en-GB" baseline="0"/>
                  <a:t> in ms</a:t>
                </a:r>
                <a:endParaRPr lang="en-GB"/>
              </a:p>
            </c:rich>
          </c:tx>
          <c:layout>
            <c:manualLayout>
              <c:xMode val="edge"/>
              <c:yMode val="edge"/>
              <c:x val="0"/>
              <c:y val="0.3811264216972878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3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800*600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978572829429709"/>
          <c:y val="0.17171296296296296"/>
          <c:w val="0.82106747785302669"/>
          <c:h val="0.60623549024875822"/>
        </c:manualLayout>
      </c:layout>
      <c:lineChart>
        <c:grouping val="standard"/>
        <c:varyColors val="0"/>
        <c:ser>
          <c:idx val="0"/>
          <c:order val="0"/>
          <c:tx>
            <c:strRef>
              <c:f>CPU!$B$3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CPU!$C$2:$F$2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CPU!$C$3:$F$3</c:f>
              <c:numCache>
                <c:formatCode>General</c:formatCode>
                <c:ptCount val="4"/>
                <c:pt idx="0">
                  <c:v>514.9</c:v>
                </c:pt>
                <c:pt idx="1">
                  <c:v>514.70000000000005</c:v>
                </c:pt>
                <c:pt idx="2">
                  <c:v>528.29999999999995</c:v>
                </c:pt>
                <c:pt idx="3">
                  <c:v>524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57-42A6-ABFD-B33B5A8B9705}"/>
            </c:ext>
          </c:extLst>
        </c:ser>
        <c:ser>
          <c:idx val="1"/>
          <c:order val="1"/>
          <c:tx>
            <c:strRef>
              <c:f>CPU!$B$4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CPU!$C$2:$F$2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CPU!$C$4:$F$4</c:f>
              <c:numCache>
                <c:formatCode>General</c:formatCode>
                <c:ptCount val="4"/>
                <c:pt idx="0">
                  <c:v>514.20000000000005</c:v>
                </c:pt>
                <c:pt idx="1">
                  <c:v>514.29999999999995</c:v>
                </c:pt>
                <c:pt idx="2">
                  <c:v>524.6</c:v>
                </c:pt>
                <c:pt idx="3">
                  <c:v>514.70000000000005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57-42A6-ABFD-B33B5A8B9705}"/>
            </c:ext>
          </c:extLst>
        </c:ser>
        <c:ser>
          <c:idx val="2"/>
          <c:order val="2"/>
          <c:tx>
            <c:strRef>
              <c:f>CPU!$B$5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CPU!$C$2:$F$2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CPU!$C$5:$F$5</c:f>
              <c:numCache>
                <c:formatCode>General</c:formatCode>
                <c:ptCount val="4"/>
                <c:pt idx="0">
                  <c:v>515.6</c:v>
                </c:pt>
                <c:pt idx="1">
                  <c:v>515.6</c:v>
                </c:pt>
                <c:pt idx="2">
                  <c:v>518.29999999999995</c:v>
                </c:pt>
                <c:pt idx="3">
                  <c:v>523.5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57-42A6-ABFD-B33B5A8B97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75306000"/>
        <c:axId val="1275308080"/>
      </c:lineChart>
      <c:catAx>
        <c:axId val="12753060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3264315728419478"/>
              <c:y val="0.8531816396966127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8080"/>
        <c:crosses val="autoZero"/>
        <c:auto val="1"/>
        <c:lblAlgn val="ctr"/>
        <c:lblOffset val="100"/>
        <c:noMultiLvlLbl val="0"/>
      </c:catAx>
      <c:valAx>
        <c:axId val="1275308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Usage in mb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6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1920*991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978572829429709"/>
          <c:y val="0.17171296296296296"/>
          <c:w val="0.82106747785302669"/>
          <c:h val="0.60623549024875822"/>
        </c:manualLayout>
      </c:layout>
      <c:lineChart>
        <c:grouping val="standard"/>
        <c:varyColors val="0"/>
        <c:ser>
          <c:idx val="0"/>
          <c:order val="0"/>
          <c:tx>
            <c:strRef>
              <c:f>CPU!$B$8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CPU!$C$7:$F$7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CPU!$C$8:$F$8</c:f>
              <c:numCache>
                <c:formatCode>General</c:formatCode>
                <c:ptCount val="4"/>
                <c:pt idx="0">
                  <c:v>687.1</c:v>
                </c:pt>
                <c:pt idx="1">
                  <c:v>702.1</c:v>
                </c:pt>
                <c:pt idx="2">
                  <c:v>701.8</c:v>
                </c:pt>
                <c:pt idx="3">
                  <c:v>697.5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72-4F65-B3F4-CB50BA7B3ADA}"/>
            </c:ext>
          </c:extLst>
        </c:ser>
        <c:ser>
          <c:idx val="1"/>
          <c:order val="1"/>
          <c:tx>
            <c:strRef>
              <c:f>CPU!$B$9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CPU!$C$7:$F$7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CPU!$C$9:$F$9</c:f>
              <c:numCache>
                <c:formatCode>General</c:formatCode>
                <c:ptCount val="4"/>
                <c:pt idx="0">
                  <c:v>686.8</c:v>
                </c:pt>
                <c:pt idx="1">
                  <c:v>692</c:v>
                </c:pt>
                <c:pt idx="2">
                  <c:v>696.2</c:v>
                </c:pt>
                <c:pt idx="3">
                  <c:v>686.3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72-4F65-B3F4-CB50BA7B3ADA}"/>
            </c:ext>
          </c:extLst>
        </c:ser>
        <c:ser>
          <c:idx val="2"/>
          <c:order val="2"/>
          <c:tx>
            <c:strRef>
              <c:f>CPU!$B$10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CPU!$C$7:$F$7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CPU!$C$10:$F$10</c:f>
              <c:numCache>
                <c:formatCode>General</c:formatCode>
                <c:ptCount val="4"/>
                <c:pt idx="0">
                  <c:v>686.5</c:v>
                </c:pt>
                <c:pt idx="1">
                  <c:v>690.7</c:v>
                </c:pt>
                <c:pt idx="2">
                  <c:v>689.4</c:v>
                </c:pt>
                <c:pt idx="3">
                  <c:v>699.4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C72-4F65-B3F4-CB50BA7B3A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75306000"/>
        <c:axId val="1275308080"/>
      </c:lineChart>
      <c:catAx>
        <c:axId val="12753060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3264315728419478"/>
              <c:y val="0.8531816396966127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8080"/>
        <c:crosses val="autoZero"/>
        <c:auto val="1"/>
        <c:lblAlgn val="ctr"/>
        <c:lblOffset val="100"/>
        <c:noMultiLvlLbl val="0"/>
      </c:catAx>
      <c:valAx>
        <c:axId val="1275308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Usage in mb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6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3840*2054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978572829429709"/>
          <c:y val="0.17171296296296296"/>
          <c:w val="0.82106747785302669"/>
          <c:h val="0.60623549024875822"/>
        </c:manualLayout>
      </c:layout>
      <c:lineChart>
        <c:grouping val="standard"/>
        <c:varyColors val="0"/>
        <c:ser>
          <c:idx val="0"/>
          <c:order val="0"/>
          <c:tx>
            <c:strRef>
              <c:f>CPU!$B$3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CPU!$C$2:$F$2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CPU!$C$3:$F$3</c:f>
              <c:numCache>
                <c:formatCode>General</c:formatCode>
                <c:ptCount val="4"/>
                <c:pt idx="0">
                  <c:v>514.9</c:v>
                </c:pt>
                <c:pt idx="1">
                  <c:v>514.70000000000005</c:v>
                </c:pt>
                <c:pt idx="2">
                  <c:v>528.29999999999995</c:v>
                </c:pt>
                <c:pt idx="3">
                  <c:v>524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75-4671-86FC-3AC65CEB22C7}"/>
            </c:ext>
          </c:extLst>
        </c:ser>
        <c:ser>
          <c:idx val="1"/>
          <c:order val="1"/>
          <c:tx>
            <c:strRef>
              <c:f>CPU!$B$4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CPU!$C$2:$F$2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CPU!$C$4:$F$4</c:f>
              <c:numCache>
                <c:formatCode>General</c:formatCode>
                <c:ptCount val="4"/>
                <c:pt idx="0">
                  <c:v>514.20000000000005</c:v>
                </c:pt>
                <c:pt idx="1">
                  <c:v>514.29999999999995</c:v>
                </c:pt>
                <c:pt idx="2">
                  <c:v>524.6</c:v>
                </c:pt>
                <c:pt idx="3">
                  <c:v>514.70000000000005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75-4671-86FC-3AC65CEB22C7}"/>
            </c:ext>
          </c:extLst>
        </c:ser>
        <c:ser>
          <c:idx val="2"/>
          <c:order val="2"/>
          <c:tx>
            <c:strRef>
              <c:f>CPU!$B$5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CPU!$C$2:$F$2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CPU!$C$5:$F$5</c:f>
              <c:numCache>
                <c:formatCode>General</c:formatCode>
                <c:ptCount val="4"/>
                <c:pt idx="0">
                  <c:v>515.6</c:v>
                </c:pt>
                <c:pt idx="1">
                  <c:v>515.6</c:v>
                </c:pt>
                <c:pt idx="2">
                  <c:v>518.29999999999995</c:v>
                </c:pt>
                <c:pt idx="3">
                  <c:v>523.5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C75-4671-86FC-3AC65CEB22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75306000"/>
        <c:axId val="1275308080"/>
      </c:lineChart>
      <c:catAx>
        <c:axId val="12753060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3264315728419478"/>
              <c:y val="0.8531816396966127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8080"/>
        <c:crosses val="autoZero"/>
        <c:auto val="1"/>
        <c:lblAlgn val="ctr"/>
        <c:lblOffset val="100"/>
        <c:noMultiLvlLbl val="0"/>
      </c:catAx>
      <c:valAx>
        <c:axId val="1275308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Usage in mb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6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800*600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978572829429709"/>
          <c:y val="0.17171296296296296"/>
          <c:w val="0.82106747785302669"/>
          <c:h val="0.60623549024875822"/>
        </c:manualLayout>
      </c:layout>
      <c:lineChart>
        <c:grouping val="standard"/>
        <c:varyColors val="0"/>
        <c:ser>
          <c:idx val="0"/>
          <c:order val="0"/>
          <c:tx>
            <c:strRef>
              <c:f>VRAM!$B$3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VRAM!$C$2:$F$2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VRAM!$C$3:$F$3</c:f>
              <c:numCache>
                <c:formatCode>General</c:formatCode>
                <c:ptCount val="4"/>
                <c:pt idx="0">
                  <c:v>261</c:v>
                </c:pt>
                <c:pt idx="1">
                  <c:v>261</c:v>
                </c:pt>
                <c:pt idx="2">
                  <c:v>261</c:v>
                </c:pt>
                <c:pt idx="3">
                  <c:v>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65-489C-80B6-0139219E29EC}"/>
            </c:ext>
          </c:extLst>
        </c:ser>
        <c:ser>
          <c:idx val="1"/>
          <c:order val="1"/>
          <c:tx>
            <c:strRef>
              <c:f>VRAM!$B$4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VRAM!$C$2:$F$2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VRAM!$C$4:$F$4</c:f>
              <c:numCache>
                <c:formatCode>General</c:formatCode>
                <c:ptCount val="4"/>
                <c:pt idx="0">
                  <c:v>261</c:v>
                </c:pt>
                <c:pt idx="1">
                  <c:v>261</c:v>
                </c:pt>
                <c:pt idx="2">
                  <c:v>261</c:v>
                </c:pt>
                <c:pt idx="3">
                  <c:v>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65-489C-80B6-0139219E29EC}"/>
            </c:ext>
          </c:extLst>
        </c:ser>
        <c:ser>
          <c:idx val="2"/>
          <c:order val="2"/>
          <c:tx>
            <c:strRef>
              <c:f>VRAM!$B$5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VRAM!$C$2:$F$2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VRAM!$C$5:$F$5</c:f>
              <c:numCache>
                <c:formatCode>General</c:formatCode>
                <c:ptCount val="4"/>
                <c:pt idx="0">
                  <c:v>261</c:v>
                </c:pt>
                <c:pt idx="1">
                  <c:v>261</c:v>
                </c:pt>
                <c:pt idx="2">
                  <c:v>261</c:v>
                </c:pt>
                <c:pt idx="3">
                  <c:v>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65-489C-80B6-0139219E29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75306000"/>
        <c:axId val="1275308080"/>
      </c:lineChart>
      <c:catAx>
        <c:axId val="12753060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3264315728419478"/>
              <c:y val="0.8531816396966127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8080"/>
        <c:crosses val="autoZero"/>
        <c:auto val="1"/>
        <c:lblAlgn val="ctr"/>
        <c:lblOffset val="100"/>
        <c:noMultiLvlLbl val="0"/>
      </c:catAx>
      <c:valAx>
        <c:axId val="1275308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Usage in mb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6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1920*991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978572829429709"/>
          <c:y val="0.17171296296296296"/>
          <c:w val="0.82106747785302669"/>
          <c:h val="0.60623549024875822"/>
        </c:manualLayout>
      </c:layout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VRAM!$C$8:$F$8</c:f>
              <c:numCache>
                <c:formatCode>General</c:formatCode>
                <c:ptCount val="4"/>
                <c:pt idx="0">
                  <c:v>477</c:v>
                </c:pt>
                <c:pt idx="1">
                  <c:v>477</c:v>
                </c:pt>
                <c:pt idx="2">
                  <c:v>477</c:v>
                </c:pt>
                <c:pt idx="3">
                  <c:v>477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67-4942-B918-430DF997A1C4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VRAM!$C$9:$F$9</c:f>
              <c:numCache>
                <c:formatCode>General</c:formatCode>
                <c:ptCount val="4"/>
                <c:pt idx="0">
                  <c:v>476</c:v>
                </c:pt>
                <c:pt idx="1">
                  <c:v>476</c:v>
                </c:pt>
                <c:pt idx="2">
                  <c:v>476</c:v>
                </c:pt>
                <c:pt idx="3">
                  <c:v>476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867-4942-B918-430DF997A1C4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VRAM!$C$10:$F$10</c:f>
              <c:numCache>
                <c:formatCode>General</c:formatCode>
                <c:ptCount val="4"/>
                <c:pt idx="0">
                  <c:v>476</c:v>
                </c:pt>
                <c:pt idx="1">
                  <c:v>476</c:v>
                </c:pt>
                <c:pt idx="2">
                  <c:v>476</c:v>
                </c:pt>
                <c:pt idx="3">
                  <c:v>476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867-4942-B918-430DF997A1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75306000"/>
        <c:axId val="1275308080"/>
      </c:lineChart>
      <c:catAx>
        <c:axId val="12753060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3264315728419478"/>
              <c:y val="0.8531816396966127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8080"/>
        <c:crosses val="autoZero"/>
        <c:auto val="1"/>
        <c:lblAlgn val="ctr"/>
        <c:lblOffset val="100"/>
        <c:noMultiLvlLbl val="0"/>
      </c:catAx>
      <c:valAx>
        <c:axId val="1275308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Usage in mb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6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3840*2054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978572829429709"/>
          <c:y val="0.17171296296296296"/>
          <c:w val="0.82106747785302669"/>
          <c:h val="0.60623549024875822"/>
        </c:manualLayout>
      </c:layout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VRAM!$C$13:$F$13</c:f>
              <c:numCache>
                <c:formatCode>General</c:formatCode>
                <c:ptCount val="4"/>
                <c:pt idx="0">
                  <c:v>1331</c:v>
                </c:pt>
                <c:pt idx="1">
                  <c:v>1331</c:v>
                </c:pt>
                <c:pt idx="2">
                  <c:v>1331</c:v>
                </c:pt>
                <c:pt idx="3">
                  <c:v>1331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59-44BA-964F-06AE5E0FD728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VRAM!$C$14:$F$14</c:f>
              <c:numCache>
                <c:formatCode>General</c:formatCode>
                <c:ptCount val="4"/>
                <c:pt idx="0">
                  <c:v>1330</c:v>
                </c:pt>
                <c:pt idx="1">
                  <c:v>1330</c:v>
                </c:pt>
                <c:pt idx="2">
                  <c:v>1330</c:v>
                </c:pt>
                <c:pt idx="3">
                  <c:v>1330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B59-44BA-964F-06AE5E0FD728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VRAM!$C$15:$F$15</c:f>
              <c:numCache>
                <c:formatCode>General</c:formatCode>
                <c:ptCount val="4"/>
                <c:pt idx="0">
                  <c:v>1330</c:v>
                </c:pt>
                <c:pt idx="1">
                  <c:v>1330</c:v>
                </c:pt>
                <c:pt idx="2">
                  <c:v>1330</c:v>
                </c:pt>
                <c:pt idx="3">
                  <c:v>1330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B59-44BA-964F-06AE5E0FD7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75306000"/>
        <c:axId val="1275308080"/>
      </c:lineChart>
      <c:catAx>
        <c:axId val="127530600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3264315728419478"/>
              <c:y val="0.8531816396966127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8080"/>
        <c:crosses val="autoZero"/>
        <c:auto val="1"/>
        <c:lblAlgn val="ctr"/>
        <c:lblOffset val="100"/>
        <c:noMultiLvlLbl val="0"/>
      </c:catAx>
      <c:valAx>
        <c:axId val="12753080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Usage in mb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5306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1DEC2-1EE9-49E1-8134-479D133585B5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B227A0-2950-4090-8D35-A2EC1F2323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6361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Different ways of doing this like raytracing and </a:t>
            </a:r>
            <a:r>
              <a:rPr lang="en-GB" dirty="0" err="1"/>
              <a:t>ssao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227A0-2950-4090-8D35-A2EC1F2323F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3852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6/11 occluded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227A0-2950-4090-8D35-A2EC1F2323F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8949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-Done for multiple screen sizes and sample sizes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227A0-2950-4090-8D35-A2EC1F2323F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58658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-Very small difference</a:t>
            </a:r>
          </a:p>
          <a:p>
            <a:r>
              <a:rPr lang="en-GB" dirty="0"/>
              <a:t>-Can be explained through fragmentation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227A0-2950-4090-8D35-A2EC1F2323F6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93994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-Even smaller difference</a:t>
            </a:r>
          </a:p>
          <a:p>
            <a:r>
              <a:rPr lang="en-GB" dirty="0"/>
              <a:t>-Can be explained through fragmentation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227A0-2950-4090-8D35-A2EC1F2323F6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1779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BA21F-167E-2D8E-FD67-9E4FD64FF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D798CE-F393-DEE3-F330-CC7EBA434C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4DDD3-234D-93F2-9A1E-5CF8D9F08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AAC7B-7831-A490-FF52-68B5F7359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F0796E-5F09-A22D-A501-1685D2212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387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BF7A-E797-771E-6F16-161FD6F57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398D7-943B-5FEC-6165-6226A366D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E886B-16C8-26E6-2FAC-8E6F624B8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6215C-1E1B-B03F-EBD7-9A68E84B6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AE0CC-0523-8EB5-75E7-B69B306E1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11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E2890-71C0-CD40-7CFE-693A5D238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8B72D-0C7D-DD71-A469-413CDD8E2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0CA30-A119-4D25-20FC-E09F56AA3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EC3A7-0628-9F0E-B554-3FD5F8618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BC756-2177-F9E0-936F-B1DD7EFE2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9134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9296A-E2D3-FBD4-4A87-BB5EEDEEB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025C4-B5ED-8CCA-661F-9E7234038A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CF576C-0F68-2AE3-3640-913D451C99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E0221-CE37-1BE3-79DC-78F5CF0B3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924CF-CC00-4700-1DBF-A66D13092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42EC9-1451-77CA-A208-00FFC528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962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61321-082D-99A6-D895-A54CD9772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08CE6B-489E-C182-A2EE-6037F55C8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23CC3B-6703-E48C-EF23-F2CE16733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CC495A-67E9-4FE4-7EE4-3975C10884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3BB1F4-A6F9-F037-CD3B-AF62D1AD5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4B00F6-89FC-97B6-79E2-65C2E89C0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1251-3721-9829-2C33-C93264ACC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1C7D6F-A394-36A6-2A2A-7518CBCA3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8227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35BB5-ADB1-1F56-8CB7-5FDC24242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7A2DEE-4B7F-64EE-43CB-71DE84185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8475E-C7BE-819A-CAF2-2F2424F1A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851F0-D073-EC76-45AA-C6E49C363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653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E88457-CBFD-8036-DCDA-529D29B3B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1D6D18-E75E-D86A-94AD-135B1DDD2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8EF0F-F3B7-0736-5222-93E47821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2536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86940-2B19-AF13-4BDE-51D5D3E72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46577-28C9-DB89-99F3-1A301C24D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6D36B-D808-58DF-7004-7D569CF8AD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BFC4E7-0BD0-725A-C480-0882C89B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1E2C0-5571-D7A4-AA65-D7C71D3D2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0DDA56-64B5-1E40-6F5D-78C30012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08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F107B-F589-60B9-691E-D9A03513D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CA34FF-11E8-3280-2DF4-1BB049F9F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F308F5-0A24-416A-95C4-3D834E6EC9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FD73C7-D951-B44C-7754-27786B3AE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8A988-6654-572F-BD39-C08364995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AC1786-EBB4-5558-B41D-F21C090B3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44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FB43E-3C38-D638-6A33-B3D2404B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FE30EC-8AF9-4CAA-76EB-78A00ABB07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912843-6672-E27A-F13C-9F0BBAF67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EB272-A96C-9AD3-A8D3-1125ECD64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A1060-7809-13EC-9E88-EBDF4A87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693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52737B-2848-454A-42E8-FAE3536FD3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2367D-475C-E1AA-4504-6AF4C55B55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11D51-357E-FAC8-86B1-E558A7F1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264EE-F8C8-C40A-5115-B0A61B9C9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50D6D-38BB-329E-A9A6-A2B09E2CD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859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21F299-3232-7D99-E4DB-9DEBD8FA3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FA19DA-C7BD-6B2D-EC99-B8A902426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52C46-1F9F-F733-8717-373F8DC64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01C90-C5E2-466E-899E-329D9CBD1DD8}" type="datetimeFigureOut">
              <a:rPr lang="en-GB" smtClean="0"/>
              <a:t>19/08/2025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29598-0DF8-498A-3EF7-084A52CC3E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5229-55DD-FA23-CC07-50A3EF1C1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DD70A-B35D-4621-B16E-452205A341C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630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11F50-CC32-4620-371E-6B68E64857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How does the choice of AO generation influence real-time rendering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F2C966-BFB7-2A42-6553-696B7E6DA9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184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7A101-8243-7747-4121-61F4BF601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ambient occlusion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31CEB-6B69-7FDE-0342-FA2BF638A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Ambient occlusion is when objects close to </a:t>
            </a:r>
            <a:r>
              <a:rPr lang="en-GB" dirty="0" err="1"/>
              <a:t>eachother</a:t>
            </a:r>
            <a:r>
              <a:rPr lang="en-GB" dirty="0"/>
              <a:t> block the ambient light bouncing around in the world</a:t>
            </a:r>
          </a:p>
          <a:p>
            <a:r>
              <a:rPr lang="en-GB" dirty="0"/>
              <a:t>Examples: creases between fingers, book fold</a:t>
            </a:r>
          </a:p>
        </p:txBody>
      </p:sp>
      <p:pic>
        <p:nvPicPr>
          <p:cNvPr id="1030" name="Picture 6" descr="Open book on table, close up Stock Photo - Alamy">
            <a:extLst>
              <a:ext uri="{FF2B5EF4-FFF2-40B4-BE49-F238E27FC236}">
                <a16:creationId xmlns:a16="http://schemas.microsoft.com/office/drawing/2014/main" id="{8F9C733A-D14D-72FA-122E-E131F2CA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953" y="3429000"/>
            <a:ext cx="4102048" cy="301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043EBE-D01A-044B-5265-59AC939C2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45" y="3428999"/>
            <a:ext cx="5320455" cy="298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78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CB5D8-8367-28A5-C166-2561A214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Ambient occlusion in graphics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7F16-FD2C-2F0B-A63C-315404752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Non-real time rendering, very precise through raytracing, makes the image look more realistic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A12102F-ACA2-2EF5-1002-B3DBC1D20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8465" y="2898429"/>
            <a:ext cx="6921910" cy="3809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468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A6980-71C2-FE3A-9249-C5D40475D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scenes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E046C-6554-DF65-ECA9-4D89729EB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For static scenes, AO can be baked into textures</a:t>
            </a:r>
          </a:p>
          <a:p>
            <a:r>
              <a:rPr lang="en-GB" dirty="0"/>
              <a:t>This means that AO is calculated and converted into a texture</a:t>
            </a:r>
          </a:p>
          <a:p>
            <a:r>
              <a:rPr lang="en-GB" dirty="0"/>
              <a:t>This texture can then be </a:t>
            </a:r>
            <a:r>
              <a:rPr lang="en-GB" dirty="0" err="1"/>
              <a:t>multipled</a:t>
            </a:r>
            <a:r>
              <a:rPr lang="en-GB" dirty="0"/>
              <a:t> with the diffuse texture</a:t>
            </a:r>
          </a:p>
        </p:txBody>
      </p:sp>
      <p:pic>
        <p:nvPicPr>
          <p:cNvPr id="3074" name="Picture 2" descr="AO baking from multires — Blender Developers Blog">
            <a:extLst>
              <a:ext uri="{FF2B5EF4-FFF2-40B4-BE49-F238E27FC236}">
                <a16:creationId xmlns:a16="http://schemas.microsoft.com/office/drawing/2014/main" id="{7B8F3870-6170-1E0E-7A9D-6852E1B89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684" y="3728474"/>
            <a:ext cx="5166852" cy="2583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990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8CC8-05AB-D863-40E3-A053C8BF1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Dynamic scenes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37C99-5D1A-D728-FE7A-0EDF10387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Scene changes every frame</a:t>
            </a:r>
          </a:p>
          <a:p>
            <a:r>
              <a:rPr lang="en-GB" dirty="0"/>
              <a:t>AO has to be recalculated every single frame</a:t>
            </a:r>
          </a:p>
          <a:p>
            <a:endParaRPr lang="en-GB" dirty="0"/>
          </a:p>
        </p:txBody>
      </p:sp>
      <p:pic>
        <p:nvPicPr>
          <p:cNvPr id="5" name="Picture 4" descr="A white circular object with a blue background&#10;&#10;Description automatically generated">
            <a:extLst>
              <a:ext uri="{FF2B5EF4-FFF2-40B4-BE49-F238E27FC236}">
                <a16:creationId xmlns:a16="http://schemas.microsoft.com/office/drawing/2014/main" id="{4DEEA673-AE22-4DE8-F664-8A135EEF2F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4997" y="3179468"/>
            <a:ext cx="4242005" cy="3313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017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BBE91-BF72-F9D8-CC81-BC6EB1753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226" y="325796"/>
            <a:ext cx="10515600" cy="1325563"/>
          </a:xfrm>
        </p:spPr>
        <p:txBody>
          <a:bodyPr/>
          <a:lstStyle/>
          <a:p>
            <a:r>
              <a:rPr lang="en-GB" dirty="0"/>
              <a:t>Screen space ambient occlusion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98F0A-B453-6E44-24D7-E13EAF3E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Deferred rendering</a:t>
            </a:r>
          </a:p>
          <a:p>
            <a:r>
              <a:rPr lang="en-GB" dirty="0"/>
              <a:t>G-buffer</a:t>
            </a:r>
          </a:p>
          <a:p>
            <a:r>
              <a:rPr lang="en-GB" dirty="0"/>
              <a:t>Everything in </a:t>
            </a:r>
            <a:r>
              <a:rPr lang="en-GB" dirty="0" err="1"/>
              <a:t>viewspace</a:t>
            </a:r>
            <a:endParaRPr lang="en-GB" dirty="0"/>
          </a:p>
        </p:txBody>
      </p:sp>
      <p:pic>
        <p:nvPicPr>
          <p:cNvPr id="4" name="Picture 3" descr="A collage of images of different types of objects&#10;&#10;Description automatically generated">
            <a:extLst>
              <a:ext uri="{FF2B5EF4-FFF2-40B4-BE49-F238E27FC236}">
                <a16:creationId xmlns:a16="http://schemas.microsoft.com/office/drawing/2014/main" id="{596EF731-8317-935A-ABB8-D8301F9218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976" y="1433088"/>
            <a:ext cx="6412476" cy="482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542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3DAA8-BF43-9522-DCD5-DF6911716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Screen space ambient occlusion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907D4-0081-DE75-9479-388370C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Project dome in direction of normal</a:t>
            </a:r>
          </a:p>
          <a:p>
            <a:r>
              <a:rPr lang="en-GB" dirty="0"/>
              <a:t>Project a number of sample points</a:t>
            </a:r>
          </a:p>
          <a:p>
            <a:r>
              <a:rPr lang="en-GB" dirty="0"/>
              <a:t>Calculate percentage of occlusion</a:t>
            </a:r>
          </a:p>
        </p:txBody>
      </p:sp>
      <p:pic>
        <p:nvPicPr>
          <p:cNvPr id="5" name="Picture 4" descr="A diagram of a vehicle&#10;&#10;Description automatically generated">
            <a:extLst>
              <a:ext uri="{FF2B5EF4-FFF2-40B4-BE49-F238E27FC236}">
                <a16:creationId xmlns:a16="http://schemas.microsoft.com/office/drawing/2014/main" id="{2C770FC2-436E-780A-4538-6A50F8046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388" y="3222266"/>
            <a:ext cx="6156412" cy="308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92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6381E-AA0C-A251-553E-65F95365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Horizon based ambient occlusion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0A155-5F7F-84F4-D7A6-B7F38087A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Sample in random direction</a:t>
            </a:r>
          </a:p>
          <a:p>
            <a:r>
              <a:rPr lang="en-GB" dirty="0"/>
              <a:t>1D </a:t>
            </a:r>
            <a:r>
              <a:rPr lang="en-GB" dirty="0" err="1"/>
              <a:t>depthfield</a:t>
            </a:r>
            <a:endParaRPr lang="en-GB" dirty="0"/>
          </a:p>
          <a:p>
            <a:r>
              <a:rPr lang="en-GB" dirty="0"/>
              <a:t>March the </a:t>
            </a:r>
            <a:r>
              <a:rPr lang="en-GB" dirty="0" err="1"/>
              <a:t>depthfield</a:t>
            </a:r>
            <a:endParaRPr lang="en-GB" dirty="0"/>
          </a:p>
          <a:p>
            <a:r>
              <a:rPr lang="en-GB" dirty="0"/>
              <a:t>Calculate highest horizon angle</a:t>
            </a:r>
          </a:p>
        </p:txBody>
      </p:sp>
      <p:pic>
        <p:nvPicPr>
          <p:cNvPr id="4" name="Picture 3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B99BDF00-732A-C7FF-36CA-EA044B6E07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172" y="3234812"/>
            <a:ext cx="5618627" cy="307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709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9B526-EE5D-CC03-068B-7855B3535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Horizon based ambient occlusion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51FF8-2D51-5B66-3F3C-82F11D898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Calculate tangent</a:t>
            </a:r>
          </a:p>
          <a:p>
            <a:r>
              <a:rPr lang="en-GB" dirty="0"/>
              <a:t>Subtract sin tangent from sin horizon</a:t>
            </a:r>
          </a:p>
          <a:p>
            <a:r>
              <a:rPr lang="en-GB" dirty="0"/>
              <a:t>Do this in multiple directions</a:t>
            </a:r>
          </a:p>
          <a:p>
            <a:r>
              <a:rPr lang="en-GB" dirty="0"/>
              <a:t>Take average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DB144-6DEE-C627-DCEB-275D28E28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979" y="1825625"/>
            <a:ext cx="4720821" cy="37680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DF5685-D96A-3744-ACA0-38637B4E6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087" y="5728622"/>
            <a:ext cx="2838846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649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0E597-0B73-4F99-6BCD-AC8D82028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Ground truth ambient occlusion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F3374-26CB-6525-1DF3-21CEF0195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Calculate view vector</a:t>
            </a:r>
          </a:p>
          <a:p>
            <a:r>
              <a:rPr lang="en-GB" dirty="0"/>
              <a:t>Divide dome into slices around view vector</a:t>
            </a:r>
          </a:p>
          <a:p>
            <a:r>
              <a:rPr lang="en-GB" dirty="0"/>
              <a:t>Calculate horizon angles</a:t>
            </a:r>
          </a:p>
          <a:p>
            <a:r>
              <a:rPr lang="en-GB" dirty="0"/>
              <a:t>Calculate equation for directions</a:t>
            </a:r>
          </a:p>
          <a:p>
            <a:r>
              <a:rPr lang="en-GB" dirty="0"/>
              <a:t>Take average</a:t>
            </a:r>
          </a:p>
          <a:p>
            <a:endParaRPr lang="en-GB" dirty="0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3B267619-8CBF-E78A-C64B-7ED0EE8C7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7175" y="2861716"/>
            <a:ext cx="5217088" cy="3216926"/>
          </a:xfrm>
          <a:prstGeom prst="rect">
            <a:avLst/>
          </a:prstGeom>
        </p:spPr>
      </p:pic>
      <p:pic>
        <p:nvPicPr>
          <p:cNvPr id="7" name="Picture 6" descr="A math equations with black text&#10;&#10;Description automatically generated with medium confidence">
            <a:extLst>
              <a:ext uri="{FF2B5EF4-FFF2-40B4-BE49-F238E27FC236}">
                <a16:creationId xmlns:a16="http://schemas.microsoft.com/office/drawing/2014/main" id="{6E971939-BF11-D129-E23F-6E8C27B14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656278"/>
            <a:ext cx="5079438" cy="122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29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1BF0-7530-C2E6-9F79-3E02BCF9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10A06-38D7-239A-CE55-7741D2A44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A0BFCF-57C3-C437-57AB-1B07C45A2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840" y="2936240"/>
            <a:ext cx="9672320" cy="2418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85594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08FF0-9AD7-1FFA-1662-1486F7F27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A7FB9-4FFD-09B3-9FEB-10BA1D3C6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Framerate</a:t>
            </a:r>
          </a:p>
          <a:p>
            <a:r>
              <a:rPr lang="en-GB" dirty="0"/>
              <a:t>CPU usage</a:t>
            </a:r>
          </a:p>
          <a:p>
            <a:r>
              <a:rPr lang="en-GB" dirty="0"/>
              <a:t>VRAM usage</a:t>
            </a:r>
          </a:p>
          <a:p>
            <a:r>
              <a:rPr lang="en-GB" dirty="0"/>
              <a:t>Visuals</a:t>
            </a:r>
          </a:p>
        </p:txBody>
      </p:sp>
    </p:spTree>
    <p:extLst>
      <p:ext uri="{BB962C8B-B14F-4D97-AF65-F5344CB8AC3E}">
        <p14:creationId xmlns:p14="http://schemas.microsoft.com/office/powerpoint/2010/main" val="929003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089AC-1DE1-3433-F65C-EF0E002E9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Framerate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D8CF98E-7D62-D2AE-8731-710342D4B2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1209589"/>
              </p:ext>
            </p:extLst>
          </p:nvPr>
        </p:nvGraphicFramePr>
        <p:xfrm>
          <a:off x="838200" y="1508760"/>
          <a:ext cx="4546600" cy="2382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1B9FC2-0397-873C-7DCF-8111C2738F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67353746"/>
              </p:ext>
            </p:extLst>
          </p:nvPr>
        </p:nvGraphicFramePr>
        <p:xfrm>
          <a:off x="6096000" y="1508760"/>
          <a:ext cx="4914900" cy="2382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1227232-9414-4FE9-9F0C-1E42B3EC46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7284554"/>
              </p:ext>
            </p:extLst>
          </p:nvPr>
        </p:nvGraphicFramePr>
        <p:xfrm>
          <a:off x="3155950" y="4064952"/>
          <a:ext cx="4914900" cy="20337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53619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60EF-5294-9679-2620-2BD0C000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CPU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B8737-6A1D-7AD4-2868-FF02ABD41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865E595-D76F-2BD2-0630-7D7657DC87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7812885"/>
              </p:ext>
            </p:extLst>
          </p:nvPr>
        </p:nvGraphicFramePr>
        <p:xfrm>
          <a:off x="838200" y="1690688"/>
          <a:ext cx="4099560" cy="2483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84D3ECB-30BF-49CD-BF71-09ADEAA07B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897046"/>
              </p:ext>
            </p:extLst>
          </p:nvPr>
        </p:nvGraphicFramePr>
        <p:xfrm>
          <a:off x="6949228" y="1690688"/>
          <a:ext cx="4404572" cy="2667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491B1F2B-85D7-4BAF-8AA1-274A109513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402415"/>
              </p:ext>
            </p:extLst>
          </p:nvPr>
        </p:nvGraphicFramePr>
        <p:xfrm>
          <a:off x="3901440" y="4236212"/>
          <a:ext cx="4439920" cy="24831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9197317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614C0-D8AD-FE5D-5316-842B91398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VRAM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20EB0-D0C2-4F50-D9A1-D8CCE63FA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23810D9-72DF-4F2F-B04A-723699206D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6458857"/>
              </p:ext>
            </p:extLst>
          </p:nvPr>
        </p:nvGraphicFramePr>
        <p:xfrm>
          <a:off x="838200" y="1560830"/>
          <a:ext cx="4048760" cy="2452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B9F03CD-50FD-41D7-B3E1-B5615D6E29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055363"/>
              </p:ext>
            </p:extLst>
          </p:nvPr>
        </p:nvGraphicFramePr>
        <p:xfrm>
          <a:off x="7305040" y="1560830"/>
          <a:ext cx="4048760" cy="2452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2BCC771-CB27-4B9A-B6FD-2A668A7334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9471262"/>
              </p:ext>
            </p:extLst>
          </p:nvPr>
        </p:nvGraphicFramePr>
        <p:xfrm>
          <a:off x="3972561" y="4013259"/>
          <a:ext cx="4328160" cy="251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163732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2BA5-F10F-6E97-4140-F7B70C401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Visuals</a:t>
            </a:r>
          </a:p>
        </p:txBody>
      </p:sp>
      <p:pic>
        <p:nvPicPr>
          <p:cNvPr id="5" name="Content Placeholder 4" descr="A zebras head on a brick wall&#10;&#10;Description automatically generated">
            <a:extLst>
              <a:ext uri="{FF2B5EF4-FFF2-40B4-BE49-F238E27FC236}">
                <a16:creationId xmlns:a16="http://schemas.microsoft.com/office/drawing/2014/main" id="{85D2BF8C-7263-2130-5DB8-59596CE7F0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635" y="1616353"/>
            <a:ext cx="10158730" cy="1904762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091EBB-CF4B-BEB9-B760-E16FF276A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903" y="3803482"/>
            <a:ext cx="5468113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1555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79253-021B-8FBB-15E1-7AB20D442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Visuals</a:t>
            </a:r>
          </a:p>
        </p:txBody>
      </p:sp>
      <p:pic>
        <p:nvPicPr>
          <p:cNvPr id="5" name="Content Placeholder 4" descr="A white background with a logo&#10;&#10;Description automatically generated">
            <a:extLst>
              <a:ext uri="{FF2B5EF4-FFF2-40B4-BE49-F238E27FC236}">
                <a16:creationId xmlns:a16="http://schemas.microsoft.com/office/drawing/2014/main" id="{A9EF5C0D-39A2-2832-18AC-05120064C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946" y="1690688"/>
            <a:ext cx="9506107" cy="237652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9AA472-5F52-8A54-4E47-6B1168D58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8045" y="4068618"/>
            <a:ext cx="5763429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152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39914-12DF-5459-766B-60A1AFB9A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1AB26-66AB-CFA7-8F96-ADEA145B1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CPU and VRAM are not factors</a:t>
            </a:r>
          </a:p>
          <a:p>
            <a:r>
              <a:rPr lang="en-GB" dirty="0"/>
              <a:t>Framerate: HBAO and GTAO</a:t>
            </a:r>
          </a:p>
          <a:p>
            <a:r>
              <a:rPr lang="en-GB" dirty="0"/>
              <a:t>Visuals: GTAO first, SSAO second</a:t>
            </a:r>
          </a:p>
        </p:txBody>
      </p:sp>
    </p:spTree>
    <p:extLst>
      <p:ext uri="{BB962C8B-B14F-4D97-AF65-F5344CB8AC3E}">
        <p14:creationId xmlns:p14="http://schemas.microsoft.com/office/powerpoint/2010/main" val="17626275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4A2D1-421A-8E89-E2FF-F3391C4A9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 for listening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493BC-F1E9-AA2D-0079-D39C72CE2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586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323</Words>
  <Application>Microsoft Office PowerPoint</Application>
  <PresentationFormat>Widescreen</PresentationFormat>
  <Paragraphs>92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How does the choice of AO generation influence real-time rendering</vt:lpstr>
      <vt:lpstr>What is ambient occlusion</vt:lpstr>
      <vt:lpstr>Ambient occlusion in graphics</vt:lpstr>
      <vt:lpstr>Static scenes</vt:lpstr>
      <vt:lpstr>Dynamic scenes</vt:lpstr>
      <vt:lpstr>Screen space ambient occlusion</vt:lpstr>
      <vt:lpstr>Screen space ambient occlusion</vt:lpstr>
      <vt:lpstr>Horizon based ambient occlusion</vt:lpstr>
      <vt:lpstr>Horizon based ambient occlusion</vt:lpstr>
      <vt:lpstr>Ground truth ambient occlusion</vt:lpstr>
      <vt:lpstr>Results</vt:lpstr>
      <vt:lpstr>Measurements</vt:lpstr>
      <vt:lpstr>Framerate</vt:lpstr>
      <vt:lpstr>CPU usage</vt:lpstr>
      <vt:lpstr>VRAM usage</vt:lpstr>
      <vt:lpstr>Visuals</vt:lpstr>
      <vt:lpstr>Visuals</vt:lpstr>
      <vt:lpstr>Conclusion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does the choice of AO generation influence real-time rendering</dc:title>
  <dc:creator>Daan Demaecker</dc:creator>
  <cp:lastModifiedBy>Daan Demaecker</cp:lastModifiedBy>
  <cp:revision>4</cp:revision>
  <dcterms:created xsi:type="dcterms:W3CDTF">2025-08-19T08:55:14Z</dcterms:created>
  <dcterms:modified xsi:type="dcterms:W3CDTF">2025-08-19T12:45:23Z</dcterms:modified>
</cp:coreProperties>
</file>