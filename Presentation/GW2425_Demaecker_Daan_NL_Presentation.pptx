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  <p:sldId id="271" r:id="rId18"/>
    <p:sldId id="272" r:id="rId19"/>
    <p:sldId id="273" r:id="rId20"/>
    <p:sldId id="276" r:id="rId21"/>
    <p:sldId id="274" r:id="rId2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Howest\GD_J3_S2\Gradwork_2.0\Gradwork\Experiment\Results\Comparing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Howest\GD_J3_S2\Gradwork_2.0\Gradwork\Experiment\Results\Comparing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3840*2054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540714422892261"/>
          <c:y val="0.16708333333333336"/>
          <c:w val="0.86983507777991165"/>
          <c:h val="0.61498432487605714"/>
        </c:manualLayout>
      </c:layout>
      <c:lineChart>
        <c:grouping val="standard"/>
        <c:varyColors val="0"/>
        <c:ser>
          <c:idx val="0"/>
          <c:order val="0"/>
          <c:tx>
            <c:strRef>
              <c:f>Frametime!$B$13</c:f>
              <c:strCache>
                <c:ptCount val="1"/>
                <c:pt idx="0">
                  <c:v>SSAO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Frametime!$C$12:$F$12</c:f>
              <c:numCache>
                <c:formatCode>General</c:formatCode>
                <c:ptCount val="4"/>
                <c:pt idx="0">
                  <c:v>16</c:v>
                </c:pt>
                <c:pt idx="1">
                  <c:v>64</c:v>
                </c:pt>
                <c:pt idx="2">
                  <c:v>256</c:v>
                </c:pt>
                <c:pt idx="3">
                  <c:v>3600</c:v>
                </c:pt>
              </c:numCache>
            </c:numRef>
          </c:cat>
          <c:val>
            <c:numRef>
              <c:f>Frametime!$C$13:$F$13</c:f>
              <c:numCache>
                <c:formatCode>General</c:formatCode>
                <c:ptCount val="4"/>
                <c:pt idx="0">
                  <c:v>1.4235648000000001</c:v>
                </c:pt>
                <c:pt idx="1">
                  <c:v>5.2716544000000001</c:v>
                </c:pt>
                <c:pt idx="2">
                  <c:v>23.630131200000001</c:v>
                </c:pt>
                <c:pt idx="3">
                  <c:v>442.3408488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6F-436B-A205-96441DBD2B56}"/>
            </c:ext>
          </c:extLst>
        </c:ser>
        <c:ser>
          <c:idx val="1"/>
          <c:order val="1"/>
          <c:tx>
            <c:strRef>
              <c:f>Frametime!$B$14</c:f>
              <c:strCache>
                <c:ptCount val="1"/>
                <c:pt idx="0">
                  <c:v>HBAO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Frametime!$C$12:$F$12</c:f>
              <c:numCache>
                <c:formatCode>General</c:formatCode>
                <c:ptCount val="4"/>
                <c:pt idx="0">
                  <c:v>16</c:v>
                </c:pt>
                <c:pt idx="1">
                  <c:v>64</c:v>
                </c:pt>
                <c:pt idx="2">
                  <c:v>256</c:v>
                </c:pt>
                <c:pt idx="3">
                  <c:v>3600</c:v>
                </c:pt>
              </c:numCache>
            </c:numRef>
          </c:cat>
          <c:val>
            <c:numRef>
              <c:f>Frametime!$C$14:$F$14</c:f>
              <c:numCache>
                <c:formatCode>General</c:formatCode>
                <c:ptCount val="4"/>
                <c:pt idx="0">
                  <c:v>1.0431488000000002</c:v>
                </c:pt>
                <c:pt idx="1">
                  <c:v>3.3596415999999998</c:v>
                </c:pt>
                <c:pt idx="2">
                  <c:v>11.262463999999998</c:v>
                </c:pt>
                <c:pt idx="3">
                  <c:v>178.87744000000001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76F-436B-A205-96441DBD2B56}"/>
            </c:ext>
          </c:extLst>
        </c:ser>
        <c:ser>
          <c:idx val="2"/>
          <c:order val="2"/>
          <c:tx>
            <c:strRef>
              <c:f>Frametime!$B$15</c:f>
              <c:strCache>
                <c:ptCount val="1"/>
                <c:pt idx="0">
                  <c:v>GTAO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Frametime!$C$12:$F$12</c:f>
              <c:numCache>
                <c:formatCode>General</c:formatCode>
                <c:ptCount val="4"/>
                <c:pt idx="0">
                  <c:v>16</c:v>
                </c:pt>
                <c:pt idx="1">
                  <c:v>64</c:v>
                </c:pt>
                <c:pt idx="2">
                  <c:v>256</c:v>
                </c:pt>
                <c:pt idx="3">
                  <c:v>3600</c:v>
                </c:pt>
              </c:numCache>
            </c:numRef>
          </c:cat>
          <c:val>
            <c:numRef>
              <c:f>Frametime!$C$15:$F$15</c:f>
              <c:numCache>
                <c:formatCode>General</c:formatCode>
                <c:ptCount val="4"/>
                <c:pt idx="0">
                  <c:v>0.84520964999999992</c:v>
                </c:pt>
                <c:pt idx="1">
                  <c:v>3.1763295999999999</c:v>
                </c:pt>
                <c:pt idx="2">
                  <c:v>11.7888</c:v>
                </c:pt>
                <c:pt idx="3">
                  <c:v>214.09148535999998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76F-436B-A205-96441DBD2B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7913680"/>
        <c:axId val="427911600"/>
      </c:lineChart>
      <c:catAx>
        <c:axId val="4279136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Samples</a:t>
                </a:r>
              </a:p>
            </c:rich>
          </c:tx>
          <c:layout>
            <c:manualLayout>
              <c:xMode val="edge"/>
              <c:yMode val="edge"/>
              <c:x val="0.45916535433070865"/>
              <c:y val="0.843170749489647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7911600"/>
        <c:crosses val="autoZero"/>
        <c:auto val="1"/>
        <c:lblAlgn val="ctr"/>
        <c:lblOffset val="100"/>
        <c:noMultiLvlLbl val="0"/>
      </c:catAx>
      <c:valAx>
        <c:axId val="427911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Frametime</a:t>
                </a:r>
                <a:r>
                  <a:rPr lang="en-GB" baseline="0"/>
                  <a:t> in ms</a:t>
                </a:r>
                <a:endParaRPr lang="en-GB"/>
              </a:p>
            </c:rich>
          </c:tx>
          <c:layout>
            <c:manualLayout>
              <c:xMode val="edge"/>
              <c:yMode val="edge"/>
              <c:x val="0"/>
              <c:y val="0.3811264216972878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7913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3840*2054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978572829429709"/>
          <c:y val="0.17171296296296296"/>
          <c:w val="0.82106747785302669"/>
          <c:h val="0.60623549024875822"/>
        </c:manualLayout>
      </c:layout>
      <c:lineChart>
        <c:grouping val="standard"/>
        <c:varyColors val="0"/>
        <c:ser>
          <c:idx val="1"/>
          <c:order val="0"/>
          <c:tx>
            <c:strRef>
              <c:f>CPU!$B$13</c:f>
              <c:strCache>
                <c:ptCount val="1"/>
                <c:pt idx="0">
                  <c:v>SSAO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cat>
            <c:numRef>
              <c:f>CPU!$C$12:$F$12</c:f>
              <c:numCache>
                <c:formatCode>General</c:formatCode>
                <c:ptCount val="4"/>
                <c:pt idx="0">
                  <c:v>16</c:v>
                </c:pt>
                <c:pt idx="1">
                  <c:v>64</c:v>
                </c:pt>
                <c:pt idx="2">
                  <c:v>256</c:v>
                </c:pt>
                <c:pt idx="3">
                  <c:v>3600</c:v>
                </c:pt>
              </c:numCache>
            </c:numRef>
          </c:cat>
          <c:val>
            <c:numRef>
              <c:f>CPU!$C$13:$F$13</c:f>
              <c:numCache>
                <c:formatCode>General</c:formatCode>
                <c:ptCount val="4"/>
                <c:pt idx="0">
                  <c:v>1290</c:v>
                </c:pt>
                <c:pt idx="1">
                  <c:v>1306.0999999999999</c:v>
                </c:pt>
                <c:pt idx="2">
                  <c:v>1303</c:v>
                </c:pt>
                <c:pt idx="3">
                  <c:v>1299.2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8C-4750-9D54-12631AC5B0A0}"/>
            </c:ext>
          </c:extLst>
        </c:ser>
        <c:ser>
          <c:idx val="2"/>
          <c:order val="1"/>
          <c:tx>
            <c:strRef>
              <c:f>CPU!$B$14</c:f>
              <c:strCache>
                <c:ptCount val="1"/>
                <c:pt idx="0">
                  <c:v>HBAO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CPU!$C$12:$F$12</c:f>
              <c:numCache>
                <c:formatCode>General</c:formatCode>
                <c:ptCount val="4"/>
                <c:pt idx="0">
                  <c:v>16</c:v>
                </c:pt>
                <c:pt idx="1">
                  <c:v>64</c:v>
                </c:pt>
                <c:pt idx="2">
                  <c:v>256</c:v>
                </c:pt>
                <c:pt idx="3">
                  <c:v>3600</c:v>
                </c:pt>
              </c:numCache>
            </c:numRef>
          </c:cat>
          <c:val>
            <c:numRef>
              <c:f>CPU!$C$14:$F$14</c:f>
              <c:numCache>
                <c:formatCode>General</c:formatCode>
                <c:ptCount val="4"/>
                <c:pt idx="0">
                  <c:v>1304.2</c:v>
                </c:pt>
                <c:pt idx="1">
                  <c:v>1299</c:v>
                </c:pt>
                <c:pt idx="2">
                  <c:v>1297.5</c:v>
                </c:pt>
                <c:pt idx="3">
                  <c:v>1287.5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D8C-4750-9D54-12631AC5B0A0}"/>
            </c:ext>
          </c:extLst>
        </c:ser>
        <c:ser>
          <c:idx val="3"/>
          <c:order val="2"/>
          <c:tx>
            <c:strRef>
              <c:f>CPU!$B$15</c:f>
              <c:strCache>
                <c:ptCount val="1"/>
                <c:pt idx="0">
                  <c:v>GTAO</c:v>
                </c:pt>
              </c:strCache>
            </c:strRef>
          </c:tx>
          <c:spPr>
            <a:ln w="28575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CPU!$C$12:$F$12</c:f>
              <c:numCache>
                <c:formatCode>General</c:formatCode>
                <c:ptCount val="4"/>
                <c:pt idx="0">
                  <c:v>16</c:v>
                </c:pt>
                <c:pt idx="1">
                  <c:v>64</c:v>
                </c:pt>
                <c:pt idx="2">
                  <c:v>256</c:v>
                </c:pt>
                <c:pt idx="3">
                  <c:v>3600</c:v>
                </c:pt>
              </c:numCache>
            </c:numRef>
          </c:cat>
          <c:val>
            <c:numRef>
              <c:f>CPU!$C$15:$F$15</c:f>
              <c:numCache>
                <c:formatCode>General</c:formatCode>
                <c:ptCount val="4"/>
                <c:pt idx="0">
                  <c:v>1287.9000000000001</c:v>
                </c:pt>
                <c:pt idx="1">
                  <c:v>1295.9000000000001</c:v>
                </c:pt>
                <c:pt idx="2">
                  <c:v>1290.7</c:v>
                </c:pt>
                <c:pt idx="3">
                  <c:v>1299.5999999999999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D8C-4750-9D54-12631AC5B0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75306000"/>
        <c:axId val="1275308080"/>
      </c:lineChart>
      <c:catAx>
        <c:axId val="12753060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Samples</a:t>
                </a:r>
              </a:p>
            </c:rich>
          </c:tx>
          <c:layout>
            <c:manualLayout>
              <c:xMode val="edge"/>
              <c:yMode val="edge"/>
              <c:x val="0.43264315728419478"/>
              <c:y val="0.853181639696612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5308080"/>
        <c:crosses val="autoZero"/>
        <c:auto val="1"/>
        <c:lblAlgn val="ctr"/>
        <c:lblOffset val="100"/>
        <c:noMultiLvlLbl val="0"/>
      </c:catAx>
      <c:valAx>
        <c:axId val="1275308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Usage in mb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5306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41B5A-D2AE-419F-BCE6-16B607907838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2C3E01-0846-47B5-A129-3351AC8892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1928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Questionnaire</a:t>
            </a:r>
          </a:p>
          <a:p>
            <a:r>
              <a:rPr lang="en-GB" dirty="0"/>
              <a:t>56 people</a:t>
            </a:r>
          </a:p>
          <a:p>
            <a:r>
              <a:rPr lang="en-GB" dirty="0"/>
              <a:t>No expertise needed, anyone can fill 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C3E01-0846-47B5-A129-3351AC88920E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741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Screen space directional occlusion</a:t>
            </a:r>
          </a:p>
          <a:p>
            <a:r>
              <a:rPr lang="en-GB" dirty="0"/>
              <a:t>Horizon based ambient occlusion+</a:t>
            </a:r>
          </a:p>
          <a:p>
            <a:r>
              <a:rPr lang="en-GB" dirty="0"/>
              <a:t>Alchemy ambient occlusion</a:t>
            </a:r>
          </a:p>
          <a:p>
            <a:r>
              <a:rPr lang="en-GB" dirty="0"/>
              <a:t>Ray traced ambient occlusion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C3E01-0846-47B5-A129-3351AC88920E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035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93156" y="402601"/>
            <a:ext cx="13989685" cy="2014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50" b="1" i="0">
                <a:solidFill>
                  <a:srgbClr val="466C8A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264F6F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50" b="1" i="0">
                <a:solidFill>
                  <a:srgbClr val="466C8A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264F6F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50" b="1" i="0">
                <a:solidFill>
                  <a:srgbClr val="466C8A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50" b="1" i="0">
                <a:solidFill>
                  <a:srgbClr val="466C8A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E4EA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3156" y="402601"/>
            <a:ext cx="16787495" cy="2014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50" b="1" i="0">
                <a:solidFill>
                  <a:srgbClr val="466C8A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40528" y="4210131"/>
            <a:ext cx="8006943" cy="2564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264F6F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545" y="554898"/>
            <a:ext cx="14702155" cy="4831080"/>
          </a:xfrm>
          <a:prstGeom prst="rect">
            <a:avLst/>
          </a:prstGeom>
        </p:spPr>
        <p:txBody>
          <a:bodyPr vert="horz" wrap="square" lIns="0" tIns="242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sz="9000" spc="105" dirty="0"/>
              <a:t>The</a:t>
            </a:r>
            <a:r>
              <a:rPr sz="9000" spc="335" dirty="0"/>
              <a:t> </a:t>
            </a:r>
            <a:r>
              <a:rPr sz="9000" spc="130" dirty="0"/>
              <a:t>Impact</a:t>
            </a:r>
            <a:r>
              <a:rPr sz="9000" spc="340" dirty="0"/>
              <a:t> </a:t>
            </a:r>
            <a:r>
              <a:rPr sz="9000" spc="135" dirty="0"/>
              <a:t>of</a:t>
            </a:r>
            <a:endParaRPr sz="9000" dirty="0"/>
          </a:p>
          <a:p>
            <a:pPr marL="12700" marR="5080">
              <a:lnSpc>
                <a:spcPts val="12610"/>
              </a:lnSpc>
              <a:spcBef>
                <a:spcPts val="525"/>
              </a:spcBef>
            </a:pPr>
            <a:r>
              <a:rPr sz="9000" spc="80" dirty="0"/>
              <a:t>AO</a:t>
            </a:r>
            <a:r>
              <a:rPr sz="9000" spc="345" dirty="0"/>
              <a:t> </a:t>
            </a:r>
            <a:r>
              <a:rPr sz="9000" spc="140" dirty="0"/>
              <a:t>Generation</a:t>
            </a:r>
            <a:r>
              <a:rPr sz="9000" spc="345" dirty="0"/>
              <a:t> </a:t>
            </a:r>
            <a:r>
              <a:rPr sz="9000" spc="150" dirty="0"/>
              <a:t>Methods </a:t>
            </a:r>
            <a:r>
              <a:rPr sz="9000" spc="80" dirty="0"/>
              <a:t>on</a:t>
            </a:r>
            <a:r>
              <a:rPr sz="9000" spc="325" dirty="0"/>
              <a:t> </a:t>
            </a:r>
            <a:r>
              <a:rPr sz="9000" spc="160" dirty="0"/>
              <a:t>Real-</a:t>
            </a:r>
            <a:r>
              <a:rPr sz="9000" spc="120" dirty="0"/>
              <a:t>Time</a:t>
            </a:r>
            <a:r>
              <a:rPr sz="9000" spc="325" dirty="0"/>
              <a:t> </a:t>
            </a:r>
            <a:r>
              <a:rPr sz="9000" spc="150" dirty="0"/>
              <a:t>Rendering</a:t>
            </a:r>
            <a:endParaRPr sz="9000" dirty="0"/>
          </a:p>
        </p:txBody>
      </p:sp>
      <p:sp>
        <p:nvSpPr>
          <p:cNvPr id="3" name="object 3"/>
          <p:cNvSpPr txBox="1"/>
          <p:nvPr/>
        </p:nvSpPr>
        <p:spPr>
          <a:xfrm>
            <a:off x="853544" y="5465030"/>
            <a:ext cx="4792279" cy="5507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0" dirty="0">
                <a:solidFill>
                  <a:srgbClr val="264F6F"/>
                </a:solidFill>
                <a:latin typeface="Poppins"/>
                <a:cs typeface="Poppins"/>
              </a:rPr>
              <a:t>by</a:t>
            </a:r>
            <a:r>
              <a:rPr sz="3500" spc="-3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500" dirty="0">
                <a:solidFill>
                  <a:srgbClr val="264F6F"/>
                </a:solidFill>
                <a:latin typeface="Poppins"/>
                <a:cs typeface="Poppins"/>
              </a:rPr>
              <a:t>Daan</a:t>
            </a:r>
            <a:r>
              <a:rPr sz="3500" spc="-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500" spc="-10" dirty="0">
                <a:solidFill>
                  <a:srgbClr val="264F6F"/>
                </a:solidFill>
                <a:latin typeface="Poppins"/>
                <a:cs typeface="Poppins"/>
              </a:rPr>
              <a:t>Dema</a:t>
            </a:r>
            <a:r>
              <a:rPr lang="en-GB" sz="3500" spc="-10" dirty="0">
                <a:solidFill>
                  <a:srgbClr val="264F6F"/>
                </a:solidFill>
                <a:latin typeface="Poppins"/>
                <a:cs typeface="Poppins"/>
              </a:rPr>
              <a:t>e</a:t>
            </a:r>
            <a:r>
              <a:rPr sz="3500" spc="-10" dirty="0" err="1">
                <a:solidFill>
                  <a:srgbClr val="264F6F"/>
                </a:solidFill>
                <a:latin typeface="Poppins"/>
                <a:cs typeface="Poppins"/>
              </a:rPr>
              <a:t>cker</a:t>
            </a:r>
            <a:endParaRPr sz="3500" dirty="0">
              <a:latin typeface="Poppins"/>
              <a:cs typeface="Poppin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42177" y="4392574"/>
            <a:ext cx="5645823" cy="56458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220" dirty="0"/>
              <a:t>AO METHODS</a:t>
            </a:r>
            <a:endParaRPr spc="22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5226" y="3062661"/>
            <a:ext cx="5137324" cy="51855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5860" y="3062661"/>
            <a:ext cx="5135300" cy="51857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39980" y="3062661"/>
            <a:ext cx="5162931" cy="51857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10494" y="8395111"/>
            <a:ext cx="2526030" cy="457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b="0" dirty="0">
                <a:solidFill>
                  <a:srgbClr val="264F6F"/>
                </a:solidFill>
                <a:latin typeface="Poppins Light"/>
                <a:cs typeface="Poppins Light"/>
              </a:rPr>
              <a:t>SCREEN</a:t>
            </a:r>
            <a:r>
              <a:rPr sz="2800" b="0" spc="5" dirty="0">
                <a:solidFill>
                  <a:srgbClr val="264F6F"/>
                </a:solidFill>
                <a:latin typeface="Poppins Light"/>
                <a:cs typeface="Poppins Light"/>
              </a:rPr>
              <a:t> </a:t>
            </a:r>
            <a:r>
              <a:rPr sz="2800" b="0" spc="-10" dirty="0">
                <a:solidFill>
                  <a:srgbClr val="264F6F"/>
                </a:solidFill>
                <a:latin typeface="Poppins Light"/>
                <a:cs typeface="Poppins Light"/>
              </a:rPr>
              <a:t>SPACE</a:t>
            </a:r>
            <a:endParaRPr sz="2800">
              <a:latin typeface="Poppins Light"/>
              <a:cs typeface="Poppins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68259" y="8395111"/>
            <a:ext cx="2752090" cy="457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b="0" dirty="0">
                <a:solidFill>
                  <a:srgbClr val="264F6F"/>
                </a:solidFill>
                <a:latin typeface="Poppins Light"/>
                <a:cs typeface="Poppins Light"/>
              </a:rPr>
              <a:t>HORIZON</a:t>
            </a:r>
            <a:r>
              <a:rPr sz="2800" b="0" spc="5" dirty="0">
                <a:solidFill>
                  <a:srgbClr val="264F6F"/>
                </a:solidFill>
                <a:latin typeface="Poppins Light"/>
                <a:cs typeface="Poppins Light"/>
              </a:rPr>
              <a:t> </a:t>
            </a:r>
            <a:r>
              <a:rPr sz="2800" b="0" spc="-10" dirty="0">
                <a:solidFill>
                  <a:srgbClr val="264F6F"/>
                </a:solidFill>
                <a:latin typeface="Poppins Light"/>
                <a:cs typeface="Poppins Light"/>
              </a:rPr>
              <a:t>BASED</a:t>
            </a:r>
            <a:endParaRPr sz="2800">
              <a:latin typeface="Poppins Light"/>
              <a:cs typeface="Poppins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604" y="8395111"/>
            <a:ext cx="2703195" cy="457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b="0" dirty="0">
                <a:solidFill>
                  <a:srgbClr val="264F6F"/>
                </a:solidFill>
                <a:latin typeface="Poppins Light"/>
                <a:cs typeface="Poppins Light"/>
              </a:rPr>
              <a:t>GROUND</a:t>
            </a:r>
            <a:r>
              <a:rPr sz="2800" b="0" spc="120" dirty="0">
                <a:solidFill>
                  <a:srgbClr val="264F6F"/>
                </a:solidFill>
                <a:latin typeface="Poppins Light"/>
                <a:cs typeface="Poppins Light"/>
              </a:rPr>
              <a:t> </a:t>
            </a:r>
            <a:r>
              <a:rPr sz="2800" b="0" spc="-10" dirty="0">
                <a:solidFill>
                  <a:srgbClr val="264F6F"/>
                </a:solidFill>
                <a:latin typeface="Poppins Light"/>
                <a:cs typeface="Poppins Light"/>
              </a:rPr>
              <a:t>TRUTH</a:t>
            </a:r>
            <a:endParaRPr sz="2800">
              <a:latin typeface="Poppins Light"/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083136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3156" y="402601"/>
            <a:ext cx="7682230" cy="201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0" dirty="0"/>
              <a:t>AMBIENT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156" y="1861316"/>
            <a:ext cx="11062335" cy="201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50" b="1" spc="135" dirty="0">
                <a:solidFill>
                  <a:srgbClr val="466C8A"/>
                </a:solidFill>
                <a:latin typeface="Poppins"/>
                <a:cs typeface="Poppins"/>
              </a:rPr>
              <a:t>OCCLUSION?</a:t>
            </a:r>
            <a:endParaRPr sz="13050">
              <a:latin typeface="Poppins"/>
              <a:cs typeface="Poppi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6343" y="4225687"/>
            <a:ext cx="14945360" cy="3363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18820">
              <a:lnSpc>
                <a:spcPts val="7005"/>
              </a:lnSpc>
              <a:spcBef>
                <a:spcPts val="90"/>
              </a:spcBef>
            </a:pPr>
            <a:r>
              <a:rPr sz="9075" b="1" baseline="-23875" dirty="0">
                <a:solidFill>
                  <a:srgbClr val="466C8A"/>
                </a:solidFill>
                <a:latin typeface="Poppins"/>
                <a:cs typeface="Poppins"/>
              </a:rPr>
              <a:t>|</a:t>
            </a:r>
            <a:r>
              <a:rPr sz="9075" b="1" spc="397" baseline="-23875" dirty="0">
                <a:solidFill>
                  <a:srgbClr val="466C8A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It’s</a:t>
            </a:r>
            <a:r>
              <a:rPr sz="3300" spc="1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when</a:t>
            </a:r>
            <a:r>
              <a:rPr sz="3300" spc="1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objects</a:t>
            </a:r>
            <a:r>
              <a:rPr sz="3300" spc="2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that</a:t>
            </a:r>
            <a:r>
              <a:rPr sz="3300" spc="1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are</a:t>
            </a:r>
            <a:r>
              <a:rPr sz="3300" spc="2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close</a:t>
            </a:r>
            <a:r>
              <a:rPr sz="3300" spc="1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together</a:t>
            </a:r>
            <a:r>
              <a:rPr sz="3300" spc="1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b="1" spc="-10" dirty="0">
                <a:solidFill>
                  <a:srgbClr val="264F6F"/>
                </a:solidFill>
                <a:latin typeface="Poppins"/>
                <a:cs typeface="Poppins"/>
              </a:rPr>
              <a:t>block</a:t>
            </a:r>
            <a:endParaRPr sz="3300">
              <a:latin typeface="Poppins"/>
              <a:cs typeface="Poppins"/>
            </a:endParaRPr>
          </a:p>
          <a:p>
            <a:pPr marL="1136650">
              <a:lnSpc>
                <a:spcPts val="3704"/>
              </a:lnSpc>
            </a:pP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some</a:t>
            </a:r>
            <a:r>
              <a:rPr sz="3300" spc="2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of</a:t>
            </a:r>
            <a:r>
              <a:rPr sz="3300" spc="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the</a:t>
            </a:r>
            <a:r>
              <a:rPr sz="3300" spc="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b="1" dirty="0">
                <a:solidFill>
                  <a:srgbClr val="264F6F"/>
                </a:solidFill>
                <a:latin typeface="Poppins"/>
                <a:cs typeface="Poppins"/>
              </a:rPr>
              <a:t>surrounding</a:t>
            </a:r>
            <a:r>
              <a:rPr sz="3300" b="1" spc="2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b="1" dirty="0">
                <a:solidFill>
                  <a:srgbClr val="264F6F"/>
                </a:solidFill>
                <a:latin typeface="Poppins"/>
                <a:cs typeface="Poppins"/>
              </a:rPr>
              <a:t>light</a:t>
            </a:r>
            <a:r>
              <a:rPr sz="3300" b="1" spc="204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that</a:t>
            </a:r>
            <a:r>
              <a:rPr sz="3300" spc="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bounces</a:t>
            </a:r>
            <a:r>
              <a:rPr sz="3300" spc="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around</a:t>
            </a:r>
            <a:r>
              <a:rPr sz="3300" spc="2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in</a:t>
            </a:r>
            <a:r>
              <a:rPr sz="3300" spc="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the</a:t>
            </a:r>
            <a:r>
              <a:rPr sz="3300" spc="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spc="-10" dirty="0">
                <a:solidFill>
                  <a:srgbClr val="264F6F"/>
                </a:solidFill>
                <a:latin typeface="Poppins"/>
                <a:cs typeface="Poppins"/>
              </a:rPr>
              <a:t>scene.</a:t>
            </a:r>
            <a:endParaRPr sz="3300">
              <a:latin typeface="Poppins"/>
              <a:cs typeface="Poppins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3300">
              <a:latin typeface="Poppins"/>
              <a:cs typeface="Poppins"/>
            </a:endParaRPr>
          </a:p>
          <a:p>
            <a:pPr marL="1136650" marR="9900920" indent="-1073785">
              <a:lnSpc>
                <a:spcPct val="88400"/>
              </a:lnSpc>
              <a:tabLst>
                <a:tab pos="1136650" algn="l"/>
              </a:tabLst>
            </a:pPr>
            <a:r>
              <a:rPr sz="6825" b="1" spc="-37" baseline="-14652" dirty="0">
                <a:solidFill>
                  <a:srgbClr val="466C8A"/>
                </a:solidFill>
                <a:latin typeface="Poppins"/>
                <a:cs typeface="Poppins"/>
              </a:rPr>
              <a:t>ex:</a:t>
            </a:r>
            <a:r>
              <a:rPr sz="6825" b="1" baseline="-14652" dirty="0">
                <a:solidFill>
                  <a:srgbClr val="466C8A"/>
                </a:solidFill>
                <a:latin typeface="Poppins"/>
                <a:cs typeface="Poppins"/>
              </a:rPr>
              <a:t>	</a:t>
            </a:r>
            <a:r>
              <a:rPr sz="2450" dirty="0">
                <a:solidFill>
                  <a:srgbClr val="264F6F"/>
                </a:solidFill>
                <a:latin typeface="Poppins"/>
                <a:cs typeface="Poppins"/>
              </a:rPr>
              <a:t>Creases</a:t>
            </a:r>
            <a:r>
              <a:rPr sz="245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450" dirty="0">
                <a:solidFill>
                  <a:srgbClr val="264F6F"/>
                </a:solidFill>
                <a:latin typeface="Poppins"/>
                <a:cs typeface="Poppins"/>
              </a:rPr>
              <a:t>between</a:t>
            </a:r>
            <a:r>
              <a:rPr sz="245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450" spc="-10" dirty="0">
                <a:solidFill>
                  <a:srgbClr val="264F6F"/>
                </a:solidFill>
                <a:latin typeface="Poppins"/>
                <a:cs typeface="Poppins"/>
              </a:rPr>
              <a:t>fingers </a:t>
            </a:r>
            <a:r>
              <a:rPr sz="2450" dirty="0">
                <a:solidFill>
                  <a:srgbClr val="264F6F"/>
                </a:solidFill>
                <a:latin typeface="Poppins"/>
                <a:cs typeface="Poppins"/>
              </a:rPr>
              <a:t>Book</a:t>
            </a:r>
            <a:r>
              <a:rPr sz="245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450" spc="-20" dirty="0">
                <a:solidFill>
                  <a:srgbClr val="264F6F"/>
                </a:solidFill>
                <a:latin typeface="Poppins"/>
                <a:cs typeface="Poppins"/>
              </a:rPr>
              <a:t>fold</a:t>
            </a:r>
            <a:endParaRPr sz="2450">
              <a:latin typeface="Poppins"/>
              <a:cs typeface="Poppins"/>
            </a:endParaRPr>
          </a:p>
          <a:p>
            <a:pPr marL="1136650">
              <a:lnSpc>
                <a:spcPct val="100000"/>
              </a:lnSpc>
              <a:spcBef>
                <a:spcPts val="30"/>
              </a:spcBef>
            </a:pPr>
            <a:r>
              <a:rPr sz="2450" dirty="0">
                <a:solidFill>
                  <a:srgbClr val="264F6F"/>
                </a:solidFill>
                <a:latin typeface="Poppins"/>
                <a:cs typeface="Poppins"/>
              </a:rPr>
              <a:t>Wrinkles</a:t>
            </a:r>
            <a:r>
              <a:rPr sz="245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450" dirty="0">
                <a:solidFill>
                  <a:srgbClr val="264F6F"/>
                </a:solidFill>
                <a:latin typeface="Poppins"/>
                <a:cs typeface="Poppins"/>
              </a:rPr>
              <a:t>in</a:t>
            </a:r>
            <a:r>
              <a:rPr sz="245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450" spc="-10" dirty="0">
                <a:solidFill>
                  <a:srgbClr val="264F6F"/>
                </a:solidFill>
                <a:latin typeface="Poppins"/>
                <a:cs typeface="Poppins"/>
              </a:rPr>
              <a:t>fabric</a:t>
            </a:r>
            <a:endParaRPr sz="2450">
              <a:latin typeface="Poppins"/>
              <a:cs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AO</a:t>
            </a:r>
            <a:r>
              <a:rPr spc="470" dirty="0"/>
              <a:t> </a:t>
            </a:r>
            <a:r>
              <a:rPr spc="114" dirty="0"/>
              <a:t>IN</a:t>
            </a:r>
            <a:r>
              <a:rPr spc="470" dirty="0"/>
              <a:t> </a:t>
            </a:r>
            <a:r>
              <a:rPr spc="220" dirty="0"/>
              <a:t>GRAPHICS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800" y="3965066"/>
            <a:ext cx="10820400" cy="59531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19944" y="3035953"/>
            <a:ext cx="9448800" cy="888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70330" marR="5080" indent="-1358265">
              <a:lnSpc>
                <a:spcPct val="101099"/>
              </a:lnSpc>
              <a:spcBef>
                <a:spcPts val="90"/>
              </a:spcBef>
            </a:pP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Non-real-time</a:t>
            </a:r>
            <a:r>
              <a:rPr sz="2800" b="1" spc="9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rendering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,</a:t>
            </a:r>
            <a:r>
              <a:rPr sz="2800" spc="1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using</a:t>
            </a:r>
            <a:r>
              <a:rPr sz="2800" spc="12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precise</a:t>
            </a:r>
            <a:r>
              <a:rPr sz="2800" spc="1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ray</a:t>
            </a:r>
            <a:r>
              <a:rPr sz="2800" b="1" spc="10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spc="-10" dirty="0">
                <a:solidFill>
                  <a:srgbClr val="264F6F"/>
                </a:solidFill>
                <a:latin typeface="Poppins"/>
                <a:cs typeface="Poppins"/>
              </a:rPr>
              <a:t>tracing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,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makes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the</a:t>
            </a:r>
            <a:r>
              <a:rPr sz="2800" spc="6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image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look</a:t>
            </a:r>
            <a:r>
              <a:rPr sz="2800" spc="6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more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spc="-10" dirty="0">
                <a:solidFill>
                  <a:srgbClr val="264F6F"/>
                </a:solidFill>
                <a:latin typeface="Poppins"/>
                <a:cs typeface="Poppins"/>
              </a:rPr>
              <a:t>realistic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.</a:t>
            </a:r>
            <a:endParaRPr sz="2800">
              <a:latin typeface="Poppins"/>
              <a:cs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0" dirty="0"/>
              <a:t>STATIC</a:t>
            </a:r>
            <a:r>
              <a:rPr spc="480" dirty="0"/>
              <a:t> </a:t>
            </a:r>
            <a:r>
              <a:rPr spc="220" dirty="0"/>
              <a:t>SCENES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461" y="2823741"/>
            <a:ext cx="12635230" cy="195198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For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static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scenes,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AO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can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be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baked</a:t>
            </a:r>
            <a:r>
              <a:rPr sz="2800" b="1" spc="21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into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textures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This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means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AO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is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calculated</a:t>
            </a:r>
            <a:r>
              <a:rPr sz="2800" b="1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and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stored</a:t>
            </a:r>
            <a:r>
              <a:rPr sz="2800" b="1" spc="2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as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a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texture.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The</a:t>
            </a:r>
            <a:r>
              <a:rPr sz="2800" spc="6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resulting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texture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can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then</a:t>
            </a:r>
            <a:r>
              <a:rPr sz="2800" spc="6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be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multiplied</a:t>
            </a:r>
            <a:r>
              <a:rPr sz="2800" b="1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with</a:t>
            </a:r>
            <a:r>
              <a:rPr sz="2800" b="1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the</a:t>
            </a:r>
            <a:r>
              <a:rPr sz="2800" b="1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diffuse</a:t>
            </a:r>
            <a:r>
              <a:rPr sz="2800" b="1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spc="-10" dirty="0">
                <a:solidFill>
                  <a:srgbClr val="264F6F"/>
                </a:solidFill>
                <a:latin typeface="Poppins"/>
                <a:cs typeface="Poppins"/>
              </a:rPr>
              <a:t>texture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.</a:t>
            </a:r>
            <a:endParaRPr sz="2800">
              <a:latin typeface="Poppins"/>
              <a:cs typeface="Poppin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1283" y="5143500"/>
            <a:ext cx="9125445" cy="45519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DYNAMIC</a:t>
            </a:r>
            <a:r>
              <a:rPr spc="475" dirty="0"/>
              <a:t> </a:t>
            </a:r>
            <a:r>
              <a:rPr spc="220" dirty="0"/>
              <a:t>SCENES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461" y="2823741"/>
            <a:ext cx="7750175" cy="12045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The</a:t>
            </a:r>
            <a:r>
              <a:rPr sz="2800" spc="9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scene</a:t>
            </a:r>
            <a:r>
              <a:rPr sz="2800" spc="9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changes</a:t>
            </a:r>
            <a:r>
              <a:rPr sz="2800" spc="9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every</a:t>
            </a:r>
            <a:r>
              <a:rPr sz="2800" b="1" spc="7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spc="-10" dirty="0">
                <a:solidFill>
                  <a:srgbClr val="264F6F"/>
                </a:solidFill>
                <a:latin typeface="Poppins"/>
                <a:cs typeface="Poppins"/>
              </a:rPr>
              <a:t>frame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.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AO</a:t>
            </a:r>
            <a:r>
              <a:rPr sz="2800" spc="7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must</a:t>
            </a:r>
            <a:r>
              <a:rPr sz="2800" b="1" spc="6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be</a:t>
            </a:r>
            <a:r>
              <a:rPr sz="2800" b="1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recalculated</a:t>
            </a:r>
            <a:r>
              <a:rPr sz="2800" b="1" spc="23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for</a:t>
            </a:r>
            <a:r>
              <a:rPr sz="2800" spc="7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each</a:t>
            </a:r>
            <a:r>
              <a:rPr sz="2800" spc="8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frame.</a:t>
            </a:r>
            <a:endParaRPr sz="2800">
              <a:latin typeface="Poppins"/>
              <a:cs typeface="Poppins"/>
            </a:endParaRPr>
          </a:p>
        </p:txBody>
      </p:sp>
      <p:pic>
        <p:nvPicPr>
          <p:cNvPr id="6" name="Picture 5" descr="A white circular object with a blue background&#10;&#10;Description automatically generated">
            <a:extLst>
              <a:ext uri="{FF2B5EF4-FFF2-40B4-BE49-F238E27FC236}">
                <a16:creationId xmlns:a16="http://schemas.microsoft.com/office/drawing/2014/main" id="{F2CE9C82-8994-E684-1407-3C0B068FE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4434621"/>
            <a:ext cx="6718183" cy="52475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SCREEN</a:t>
            </a:r>
            <a:r>
              <a:rPr spc="450" dirty="0"/>
              <a:t> </a:t>
            </a:r>
            <a:r>
              <a:rPr spc="180" dirty="0"/>
              <a:t>SPACE</a:t>
            </a:r>
            <a:r>
              <a:rPr spc="490" dirty="0"/>
              <a:t> </a:t>
            </a:r>
            <a:r>
              <a:rPr spc="204" dirty="0"/>
              <a:t>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7681" y="4889554"/>
            <a:ext cx="3823335" cy="238142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Deferred</a:t>
            </a:r>
            <a:r>
              <a:rPr sz="2800" spc="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rendering</a:t>
            </a:r>
            <a:endParaRPr sz="2800" dirty="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G-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Buffer</a:t>
            </a:r>
            <a:endParaRPr sz="2800" dirty="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Everything</a:t>
            </a:r>
            <a:r>
              <a:rPr sz="2800" spc="9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in</a:t>
            </a:r>
            <a:r>
              <a:rPr sz="2800" spc="9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lang="en-GB" sz="2800" spc="90" dirty="0">
                <a:solidFill>
                  <a:srgbClr val="264F6F"/>
                </a:solidFill>
                <a:latin typeface="Poppins"/>
                <a:cs typeface="Poppins"/>
              </a:rPr>
              <a:t>view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space</a:t>
            </a:r>
            <a:endParaRPr sz="2800" dirty="0">
              <a:latin typeface="Poppins"/>
              <a:cs typeface="Poppin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3750" y="2889452"/>
            <a:ext cx="8496012" cy="63881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SCREEN</a:t>
            </a:r>
            <a:r>
              <a:rPr spc="450" dirty="0"/>
              <a:t> </a:t>
            </a:r>
            <a:r>
              <a:rPr spc="180" dirty="0"/>
              <a:t>SPACE</a:t>
            </a:r>
            <a:r>
              <a:rPr spc="490" dirty="0"/>
              <a:t> </a:t>
            </a:r>
            <a:r>
              <a:rPr spc="204" dirty="0"/>
              <a:t>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114" y="4743159"/>
            <a:ext cx="6657340" cy="195198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Project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dome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in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direction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of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normal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Project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a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number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of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sample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points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Calculate</a:t>
            </a:r>
            <a:r>
              <a:rPr sz="2800" spc="11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percentage</a:t>
            </a:r>
            <a:r>
              <a:rPr sz="2800" spc="114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of</a:t>
            </a:r>
            <a:r>
              <a:rPr sz="2800" spc="114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occlusion</a:t>
            </a:r>
            <a:endParaRPr sz="2800">
              <a:latin typeface="Poppins"/>
              <a:cs typeface="Poppin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5750" y="3429000"/>
            <a:ext cx="9620237" cy="4819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HORIZON</a:t>
            </a:r>
            <a:r>
              <a:rPr spc="490" dirty="0"/>
              <a:t> </a:t>
            </a:r>
            <a:r>
              <a:rPr spc="180" dirty="0"/>
              <a:t>BASED</a:t>
            </a:r>
            <a:r>
              <a:rPr spc="484" dirty="0"/>
              <a:t> </a:t>
            </a:r>
            <a:r>
              <a:rPr spc="204" dirty="0"/>
              <a:t>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414" y="4492435"/>
            <a:ext cx="6026785" cy="26993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Sample</a:t>
            </a:r>
            <a:r>
              <a:rPr sz="2800" spc="8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in</a:t>
            </a:r>
            <a:r>
              <a:rPr sz="2800" spc="8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random</a:t>
            </a:r>
            <a:r>
              <a:rPr sz="2800" spc="8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direction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1D</a:t>
            </a:r>
            <a:r>
              <a:rPr sz="2800" spc="3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depthfield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March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the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depthfield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Calculate</a:t>
            </a:r>
            <a:r>
              <a:rPr sz="2800" spc="114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highest</a:t>
            </a:r>
            <a:r>
              <a:rPr sz="2800" spc="12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horizon</a:t>
            </a:r>
            <a:r>
              <a:rPr sz="2800" spc="12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angle</a:t>
            </a:r>
            <a:endParaRPr sz="2800">
              <a:latin typeface="Poppins"/>
              <a:cs typeface="Poppin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0744" y="3543300"/>
            <a:ext cx="8772524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HORIZON</a:t>
            </a:r>
            <a:r>
              <a:rPr spc="490" dirty="0"/>
              <a:t> </a:t>
            </a:r>
            <a:r>
              <a:rPr spc="180" dirty="0"/>
              <a:t>BASED</a:t>
            </a:r>
            <a:r>
              <a:rPr spc="484" dirty="0"/>
              <a:t> </a:t>
            </a:r>
            <a:r>
              <a:rPr spc="204" dirty="0"/>
              <a:t>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414" y="4492435"/>
            <a:ext cx="6952615" cy="26993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Calculate</a:t>
            </a:r>
            <a:r>
              <a:rPr sz="2800" spc="14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tangent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Subtract</a:t>
            </a:r>
            <a:r>
              <a:rPr sz="2800" spc="6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sin</a:t>
            </a:r>
            <a:r>
              <a:rPr sz="2800" spc="6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tangent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from</a:t>
            </a:r>
            <a:r>
              <a:rPr sz="2800" spc="6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sin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horizon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Do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this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in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multiple</a:t>
            </a:r>
            <a:r>
              <a:rPr sz="2800" spc="6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directions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Take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average</a:t>
            </a:r>
            <a:endParaRPr sz="2800">
              <a:latin typeface="Poppins"/>
              <a:cs typeface="Poppin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2890837"/>
            <a:ext cx="7381875" cy="6772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GROUND</a:t>
            </a:r>
            <a:r>
              <a:rPr spc="455" dirty="0"/>
              <a:t> </a:t>
            </a:r>
            <a:r>
              <a:rPr spc="180" dirty="0"/>
              <a:t>TRUTH</a:t>
            </a:r>
            <a:r>
              <a:rPr spc="484" dirty="0"/>
              <a:t> </a:t>
            </a:r>
            <a:r>
              <a:rPr spc="204" dirty="0"/>
              <a:t>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156" y="3755936"/>
            <a:ext cx="7997825" cy="34467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Calculate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view</a:t>
            </a:r>
            <a:r>
              <a:rPr sz="2800" spc="7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vector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Divide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dome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into</a:t>
            </a:r>
            <a:r>
              <a:rPr sz="2800" spc="7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slices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around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view</a:t>
            </a:r>
            <a:r>
              <a:rPr sz="2800" spc="7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vector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Calculate</a:t>
            </a:r>
            <a:r>
              <a:rPr sz="2800" spc="12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horizon</a:t>
            </a:r>
            <a:r>
              <a:rPr sz="2800" spc="1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angles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Calculate</a:t>
            </a:r>
            <a:r>
              <a:rPr sz="2800" spc="9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equation</a:t>
            </a:r>
            <a:r>
              <a:rPr sz="2800" spc="9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for</a:t>
            </a:r>
            <a:r>
              <a:rPr sz="2800" spc="9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directions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Take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average</a:t>
            </a:r>
            <a:endParaRPr sz="2800">
              <a:latin typeface="Poppins"/>
              <a:cs typeface="Poppin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144000" y="2628900"/>
            <a:ext cx="8153400" cy="6943725"/>
            <a:chOff x="9144000" y="2628900"/>
            <a:chExt cx="8153400" cy="69437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0" y="2628900"/>
              <a:ext cx="8153400" cy="5029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3537" y="7658100"/>
              <a:ext cx="7934325" cy="19145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0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5226" y="3062661"/>
            <a:ext cx="5137324" cy="51855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5860" y="3062661"/>
            <a:ext cx="5135300" cy="51857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39980" y="3062661"/>
            <a:ext cx="5162931" cy="51857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10494" y="8395111"/>
            <a:ext cx="2526030" cy="457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b="0" dirty="0">
                <a:solidFill>
                  <a:srgbClr val="264F6F"/>
                </a:solidFill>
                <a:latin typeface="Poppins Light"/>
                <a:cs typeface="Poppins Light"/>
              </a:rPr>
              <a:t>SCREEN</a:t>
            </a:r>
            <a:r>
              <a:rPr sz="2800" b="0" spc="5" dirty="0">
                <a:solidFill>
                  <a:srgbClr val="264F6F"/>
                </a:solidFill>
                <a:latin typeface="Poppins Light"/>
                <a:cs typeface="Poppins Light"/>
              </a:rPr>
              <a:t> </a:t>
            </a:r>
            <a:r>
              <a:rPr sz="2800" b="0" spc="-10" dirty="0">
                <a:solidFill>
                  <a:srgbClr val="264F6F"/>
                </a:solidFill>
                <a:latin typeface="Poppins Light"/>
                <a:cs typeface="Poppins Light"/>
              </a:rPr>
              <a:t>SPACE</a:t>
            </a:r>
            <a:endParaRPr sz="2800">
              <a:latin typeface="Poppins Light"/>
              <a:cs typeface="Poppins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68259" y="8395111"/>
            <a:ext cx="2752090" cy="457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b="0" dirty="0">
                <a:solidFill>
                  <a:srgbClr val="264F6F"/>
                </a:solidFill>
                <a:latin typeface="Poppins Light"/>
                <a:cs typeface="Poppins Light"/>
              </a:rPr>
              <a:t>HORIZON</a:t>
            </a:r>
            <a:r>
              <a:rPr sz="2800" b="0" spc="5" dirty="0">
                <a:solidFill>
                  <a:srgbClr val="264F6F"/>
                </a:solidFill>
                <a:latin typeface="Poppins Light"/>
                <a:cs typeface="Poppins Light"/>
              </a:rPr>
              <a:t> </a:t>
            </a:r>
            <a:r>
              <a:rPr sz="2800" b="0" spc="-10" dirty="0">
                <a:solidFill>
                  <a:srgbClr val="264F6F"/>
                </a:solidFill>
                <a:latin typeface="Poppins Light"/>
                <a:cs typeface="Poppins Light"/>
              </a:rPr>
              <a:t>BASED</a:t>
            </a:r>
            <a:endParaRPr sz="2800">
              <a:latin typeface="Poppins Light"/>
              <a:cs typeface="Poppins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604" y="8395111"/>
            <a:ext cx="2703195" cy="457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b="0" dirty="0">
                <a:solidFill>
                  <a:srgbClr val="264F6F"/>
                </a:solidFill>
                <a:latin typeface="Poppins Light"/>
                <a:cs typeface="Poppins Light"/>
              </a:rPr>
              <a:t>GROUND</a:t>
            </a:r>
            <a:r>
              <a:rPr sz="2800" b="0" spc="120" dirty="0">
                <a:solidFill>
                  <a:srgbClr val="264F6F"/>
                </a:solidFill>
                <a:latin typeface="Poppins Light"/>
                <a:cs typeface="Poppins Light"/>
              </a:rPr>
              <a:t> </a:t>
            </a:r>
            <a:r>
              <a:rPr sz="2800" b="0" spc="-10" dirty="0">
                <a:solidFill>
                  <a:srgbClr val="264F6F"/>
                </a:solidFill>
                <a:latin typeface="Poppins Light"/>
                <a:cs typeface="Poppins Light"/>
              </a:rPr>
              <a:t>TRUTH</a:t>
            </a:r>
            <a:endParaRPr sz="2800">
              <a:latin typeface="Poppins Light"/>
              <a:cs typeface="Poppins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0" dirty="0"/>
              <a:t>MEASUREMENTS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7731" y="4101142"/>
            <a:ext cx="3374390" cy="3549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14655" indent="-401955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414655" algn="l"/>
              </a:tabLst>
            </a:pPr>
            <a:r>
              <a:rPr lang="en-GB" sz="3700" spc="-10" dirty="0" err="1">
                <a:solidFill>
                  <a:srgbClr val="264F6F"/>
                </a:solidFill>
                <a:latin typeface="Poppins"/>
                <a:cs typeface="Poppins"/>
              </a:rPr>
              <a:t>Frametime</a:t>
            </a:r>
            <a:endParaRPr sz="3700" dirty="0">
              <a:latin typeface="Poppins"/>
              <a:cs typeface="Poppins"/>
            </a:endParaRPr>
          </a:p>
          <a:p>
            <a:pPr marL="414655" indent="-401955">
              <a:lnSpc>
                <a:spcPct val="100000"/>
              </a:lnSpc>
              <a:spcBef>
                <a:spcPts val="3315"/>
              </a:spcBef>
              <a:buFont typeface="DejaVu Serif"/>
              <a:buChar char="•"/>
              <a:tabLst>
                <a:tab pos="414655" algn="l"/>
              </a:tabLst>
            </a:pPr>
            <a:r>
              <a:rPr sz="3700" dirty="0">
                <a:solidFill>
                  <a:srgbClr val="264F6F"/>
                </a:solidFill>
                <a:latin typeface="Poppins"/>
                <a:cs typeface="Poppins"/>
              </a:rPr>
              <a:t>CPU</a:t>
            </a:r>
            <a:r>
              <a:rPr sz="3700" spc="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700" spc="-10" dirty="0">
                <a:solidFill>
                  <a:srgbClr val="264F6F"/>
                </a:solidFill>
                <a:latin typeface="Poppins"/>
                <a:cs typeface="Poppins"/>
              </a:rPr>
              <a:t>usage</a:t>
            </a:r>
            <a:endParaRPr sz="3700" dirty="0">
              <a:latin typeface="Poppins"/>
              <a:cs typeface="Poppins"/>
            </a:endParaRPr>
          </a:p>
          <a:p>
            <a:pPr marL="414655" indent="-401955">
              <a:lnSpc>
                <a:spcPct val="100000"/>
              </a:lnSpc>
              <a:spcBef>
                <a:spcPts val="3320"/>
              </a:spcBef>
              <a:buFont typeface="DejaVu Serif"/>
              <a:buChar char="•"/>
              <a:tabLst>
                <a:tab pos="414655" algn="l"/>
              </a:tabLst>
            </a:pPr>
            <a:r>
              <a:rPr sz="3700" dirty="0">
                <a:solidFill>
                  <a:srgbClr val="264F6F"/>
                </a:solidFill>
                <a:latin typeface="Poppins"/>
                <a:cs typeface="Poppins"/>
              </a:rPr>
              <a:t>VRAM</a:t>
            </a:r>
            <a:r>
              <a:rPr sz="3700" spc="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700" spc="-10" dirty="0">
                <a:solidFill>
                  <a:srgbClr val="264F6F"/>
                </a:solidFill>
                <a:latin typeface="Poppins"/>
                <a:cs typeface="Poppins"/>
              </a:rPr>
              <a:t>usage</a:t>
            </a:r>
            <a:endParaRPr sz="3700" dirty="0">
              <a:latin typeface="Poppins"/>
              <a:cs typeface="Poppins"/>
            </a:endParaRPr>
          </a:p>
          <a:p>
            <a:pPr marL="414655" indent="-401955">
              <a:lnSpc>
                <a:spcPct val="100000"/>
              </a:lnSpc>
              <a:spcBef>
                <a:spcPts val="3315"/>
              </a:spcBef>
              <a:buFont typeface="DejaVu Serif"/>
              <a:buChar char="•"/>
              <a:tabLst>
                <a:tab pos="414655" algn="l"/>
              </a:tabLst>
            </a:pPr>
            <a:r>
              <a:rPr sz="3700" spc="-10" dirty="0">
                <a:solidFill>
                  <a:srgbClr val="264F6F"/>
                </a:solidFill>
                <a:latin typeface="Poppins"/>
                <a:cs typeface="Poppins"/>
              </a:rPr>
              <a:t>Visuals</a:t>
            </a:r>
            <a:endParaRPr sz="3700" dirty="0">
              <a:latin typeface="Poppins"/>
              <a:cs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0" dirty="0"/>
              <a:t>FRAME</a:t>
            </a:r>
            <a:r>
              <a:rPr lang="en-GB" spc="220" dirty="0"/>
              <a:t>TIME</a:t>
            </a:r>
            <a:endParaRPr spc="22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1154" y="2653094"/>
            <a:ext cx="6863246" cy="32618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0" y="2653093"/>
            <a:ext cx="7281377" cy="32924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95900" y="6596062"/>
            <a:ext cx="7696200" cy="3348038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1227232-9414-4FE9-9F0C-1E42B3EC46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2435595"/>
              </p:ext>
            </p:extLst>
          </p:nvPr>
        </p:nvGraphicFramePr>
        <p:xfrm>
          <a:off x="5295900" y="6181141"/>
          <a:ext cx="7658100" cy="37032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/>
              <a:t>VRAM</a:t>
            </a:r>
            <a:r>
              <a:rPr spc="470" dirty="0"/>
              <a:t> </a:t>
            </a:r>
            <a:r>
              <a:rPr spc="220" dirty="0"/>
              <a:t>USAGE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860" y="2262187"/>
            <a:ext cx="16440150" cy="77819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0" dirty="0"/>
              <a:t>CPU</a:t>
            </a:r>
            <a:r>
              <a:rPr spc="480" dirty="0"/>
              <a:t> </a:t>
            </a:r>
            <a:r>
              <a:rPr spc="220" dirty="0"/>
              <a:t>USAGE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5417" y="2281618"/>
            <a:ext cx="6419837" cy="39052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05629" y="1995868"/>
            <a:ext cx="6896098" cy="4190993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91B1F2B-85D7-4BAF-8AA1-274A109513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1578002"/>
              </p:ext>
            </p:extLst>
          </p:nvPr>
        </p:nvGraphicFramePr>
        <p:xfrm>
          <a:off x="5867400" y="6186862"/>
          <a:ext cx="6324600" cy="3697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0" dirty="0"/>
              <a:t>VISUALS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72025" y="6263055"/>
            <a:ext cx="9258300" cy="37528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2588" y="2364770"/>
            <a:ext cx="3731429" cy="37078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00116" y="2364778"/>
            <a:ext cx="3662753" cy="37078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48850" y="2364778"/>
            <a:ext cx="3662751" cy="37078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097619" y="2364778"/>
            <a:ext cx="3707744" cy="3707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1D6337-15F9-1957-8D8F-7AAD91EE9890}"/>
              </a:ext>
            </a:extLst>
          </p:cNvPr>
          <p:cNvSpPr txBox="1"/>
          <p:nvPr/>
        </p:nvSpPr>
        <p:spPr>
          <a:xfrm>
            <a:off x="3666382" y="4629653"/>
            <a:ext cx="152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800" spc="-10" dirty="0">
                <a:solidFill>
                  <a:srgbClr val="264F6F"/>
                </a:solidFill>
                <a:latin typeface="Poppins"/>
                <a:cs typeface="Poppins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0F23E2-190D-F8E5-40B7-694CF2667433}"/>
              </a:ext>
            </a:extLst>
          </p:cNvPr>
          <p:cNvSpPr txBox="1"/>
          <p:nvPr/>
        </p:nvSpPr>
        <p:spPr>
          <a:xfrm>
            <a:off x="7529052" y="4610100"/>
            <a:ext cx="152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800" spc="-10" dirty="0">
                <a:solidFill>
                  <a:srgbClr val="264F6F"/>
                </a:solidFill>
                <a:latin typeface="Poppins"/>
                <a:cs typeface="Poppins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57EC52-6381-550B-A6AD-F79D9D4F6982}"/>
              </a:ext>
            </a:extLst>
          </p:cNvPr>
          <p:cNvSpPr txBox="1"/>
          <p:nvPr/>
        </p:nvSpPr>
        <p:spPr>
          <a:xfrm>
            <a:off x="11383299" y="4610100"/>
            <a:ext cx="152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800" spc="-10" dirty="0">
                <a:solidFill>
                  <a:srgbClr val="264F6F"/>
                </a:solidFill>
                <a:latin typeface="Poppins"/>
                <a:cs typeface="Poppins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356C03-A2FB-ADEA-CB02-897BB5F08FF5}"/>
              </a:ext>
            </a:extLst>
          </p:cNvPr>
          <p:cNvSpPr txBox="1"/>
          <p:nvPr/>
        </p:nvSpPr>
        <p:spPr>
          <a:xfrm>
            <a:off x="15240000" y="4610100"/>
            <a:ext cx="152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800" spc="-10" dirty="0">
                <a:solidFill>
                  <a:srgbClr val="264F6F"/>
                </a:solidFill>
                <a:latin typeface="Poppins"/>
                <a:cs typeface="Poppins"/>
              </a:rPr>
              <a:t>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0" dirty="0"/>
              <a:t>VISUALS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1550" y="5824911"/>
            <a:ext cx="9010650" cy="41433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05625" y="2450500"/>
            <a:ext cx="3201503" cy="323153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2669" y="2450500"/>
            <a:ext cx="3200197" cy="32316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98009" y="2450503"/>
            <a:ext cx="3217147" cy="32313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EBB99C-C871-F9CB-D088-04BEAF5DDF3B}"/>
              </a:ext>
            </a:extLst>
          </p:cNvPr>
          <p:cNvSpPr txBox="1"/>
          <p:nvPr/>
        </p:nvSpPr>
        <p:spPr>
          <a:xfrm>
            <a:off x="12801600" y="4230350"/>
            <a:ext cx="152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800" spc="-10" dirty="0">
                <a:solidFill>
                  <a:srgbClr val="264F6F"/>
                </a:solidFill>
                <a:latin typeface="Poppins"/>
                <a:cs typeface="Poppins"/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94855E-7D3B-D3C0-0A5F-3A936C9D9AC3}"/>
              </a:ext>
            </a:extLst>
          </p:cNvPr>
          <p:cNvSpPr txBox="1"/>
          <p:nvPr/>
        </p:nvSpPr>
        <p:spPr>
          <a:xfrm>
            <a:off x="9190704" y="4229100"/>
            <a:ext cx="152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800" spc="-10" dirty="0">
                <a:solidFill>
                  <a:srgbClr val="264F6F"/>
                </a:solidFill>
                <a:latin typeface="Poppins"/>
                <a:cs typeface="Poppins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52799E-4927-6772-BAE3-14DB8CAE290F}"/>
              </a:ext>
            </a:extLst>
          </p:cNvPr>
          <p:cNvSpPr txBox="1"/>
          <p:nvPr/>
        </p:nvSpPr>
        <p:spPr>
          <a:xfrm>
            <a:off x="5638800" y="4229100"/>
            <a:ext cx="152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800" spc="-10" dirty="0">
                <a:solidFill>
                  <a:srgbClr val="264F6F"/>
                </a:solidFill>
                <a:latin typeface="Poppins"/>
                <a:cs typeface="Poppins"/>
              </a:rPr>
              <a:t>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140528" y="4210131"/>
            <a:ext cx="8006943" cy="43050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36245" indent="-401955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436245" algn="l"/>
              </a:tabLst>
            </a:pPr>
            <a:r>
              <a:rPr lang="en-GB" b="0" dirty="0"/>
              <a:t>VRAM:</a:t>
            </a:r>
            <a:r>
              <a:rPr lang="en-GB" dirty="0"/>
              <a:t> SSAO </a:t>
            </a:r>
            <a:r>
              <a:rPr lang="en-GB" b="0" dirty="0"/>
              <a:t>in last</a:t>
            </a:r>
          </a:p>
          <a:p>
            <a:pPr marL="436245" indent="-401955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436245" algn="l"/>
              </a:tabLst>
            </a:pPr>
            <a:endParaRPr lang="en-GB" b="0" spc="5" dirty="0"/>
          </a:p>
          <a:p>
            <a:pPr marL="436245" indent="-401955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436245" algn="l"/>
              </a:tabLst>
            </a:pPr>
            <a:r>
              <a:rPr lang="en-GB" spc="5" dirty="0"/>
              <a:t> </a:t>
            </a:r>
            <a:r>
              <a:rPr lang="en-GB" b="0" spc="5" dirty="0"/>
              <a:t>CPU:  </a:t>
            </a:r>
            <a:r>
              <a:rPr lang="en-GB" spc="5" dirty="0"/>
              <a:t>SSAO </a:t>
            </a:r>
            <a:r>
              <a:rPr lang="en-GB" b="0" spc="5" dirty="0"/>
              <a:t>in last</a:t>
            </a:r>
            <a:endParaRPr lang="en-GB" spc="-10" dirty="0"/>
          </a:p>
          <a:p>
            <a:pPr marL="436245" indent="-401955">
              <a:lnSpc>
                <a:spcPct val="100000"/>
              </a:lnSpc>
              <a:spcBef>
                <a:spcPts val="3315"/>
              </a:spcBef>
              <a:buFont typeface="DejaVu Serif"/>
              <a:buChar char="•"/>
              <a:tabLst>
                <a:tab pos="436245" algn="l"/>
              </a:tabLst>
            </a:pPr>
            <a:r>
              <a:rPr b="0" dirty="0">
                <a:latin typeface="Poppins Light"/>
                <a:cs typeface="Poppins Light"/>
              </a:rPr>
              <a:t>Frame</a:t>
            </a:r>
            <a:r>
              <a:rPr lang="en-GB" b="0" dirty="0">
                <a:latin typeface="Poppins Light"/>
                <a:cs typeface="Poppins Light"/>
              </a:rPr>
              <a:t>time</a:t>
            </a:r>
            <a:r>
              <a:rPr b="0" dirty="0">
                <a:latin typeface="Poppins"/>
                <a:cs typeface="Poppins"/>
              </a:rPr>
              <a:t>:</a:t>
            </a:r>
            <a:r>
              <a:rPr b="0" spc="5" dirty="0">
                <a:latin typeface="Poppins"/>
                <a:cs typeface="Poppins"/>
              </a:rPr>
              <a:t> </a:t>
            </a:r>
            <a:r>
              <a:rPr dirty="0"/>
              <a:t>HBAO</a:t>
            </a:r>
            <a:r>
              <a:rPr lang="en-GB" dirty="0"/>
              <a:t> </a:t>
            </a:r>
            <a:r>
              <a:rPr lang="en-GB" b="0" dirty="0"/>
              <a:t>first, </a:t>
            </a:r>
            <a:r>
              <a:rPr spc="-20" dirty="0"/>
              <a:t>GTAO</a:t>
            </a:r>
            <a:r>
              <a:rPr lang="en-GB" spc="-20" dirty="0"/>
              <a:t> </a:t>
            </a:r>
            <a:r>
              <a:rPr lang="en-GB" b="0" spc="-20" dirty="0"/>
              <a:t>second</a:t>
            </a:r>
            <a:endParaRPr b="0" spc="-20" dirty="0"/>
          </a:p>
          <a:p>
            <a:pPr marL="436245" indent="-401955">
              <a:lnSpc>
                <a:spcPct val="100000"/>
              </a:lnSpc>
              <a:spcBef>
                <a:spcPts val="3320"/>
              </a:spcBef>
              <a:buFont typeface="DejaVu Serif"/>
              <a:buChar char="•"/>
              <a:tabLst>
                <a:tab pos="436245" algn="l"/>
              </a:tabLst>
            </a:pPr>
            <a:r>
              <a:rPr b="0" dirty="0">
                <a:latin typeface="Poppins Light"/>
                <a:cs typeface="Poppins Light"/>
              </a:rPr>
              <a:t>Visuals:</a:t>
            </a:r>
            <a:r>
              <a:rPr b="0" spc="-20" dirty="0">
                <a:latin typeface="Poppins Light"/>
                <a:cs typeface="Poppins Light"/>
              </a:rPr>
              <a:t> </a:t>
            </a:r>
            <a:r>
              <a:rPr dirty="0"/>
              <a:t>GTAO</a:t>
            </a:r>
            <a:r>
              <a:rPr spc="5" dirty="0"/>
              <a:t> </a:t>
            </a:r>
            <a:r>
              <a:rPr b="0" dirty="0">
                <a:latin typeface="Poppins"/>
                <a:cs typeface="Poppins"/>
              </a:rPr>
              <a:t>first,</a:t>
            </a:r>
            <a:r>
              <a:rPr b="0" spc="-200" dirty="0">
                <a:latin typeface="Poppins"/>
                <a:cs typeface="Poppins"/>
              </a:rPr>
              <a:t> </a:t>
            </a:r>
            <a:r>
              <a:rPr dirty="0"/>
              <a:t>SSAO</a:t>
            </a:r>
            <a:r>
              <a:rPr spc="210" dirty="0"/>
              <a:t> </a:t>
            </a:r>
            <a:r>
              <a:rPr b="0" spc="-10" dirty="0">
                <a:latin typeface="Poppins"/>
                <a:cs typeface="Poppins"/>
              </a:rPr>
              <a:t>second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130" dirty="0"/>
              <a:t>FUTURE WORK</a:t>
            </a:r>
            <a:endParaRPr spc="13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140528" y="4210131"/>
            <a:ext cx="8006943" cy="21480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36245" indent="-401955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436245" algn="l"/>
              </a:tabLst>
            </a:pPr>
            <a:r>
              <a:rPr lang="en-GB" b="0" dirty="0"/>
              <a:t>More AO methods</a:t>
            </a:r>
            <a:endParaRPr b="0" spc="-10" dirty="0"/>
          </a:p>
          <a:p>
            <a:pPr marL="436245" indent="-401955">
              <a:lnSpc>
                <a:spcPct val="100000"/>
              </a:lnSpc>
              <a:spcBef>
                <a:spcPts val="3315"/>
              </a:spcBef>
              <a:buFont typeface="DejaVu Serif"/>
              <a:buChar char="•"/>
              <a:tabLst>
                <a:tab pos="436245" algn="l"/>
              </a:tabLst>
            </a:pPr>
            <a:r>
              <a:rPr lang="en-GB" b="0" spc="-20" dirty="0"/>
              <a:t>More optimization for shorter </a:t>
            </a:r>
            <a:r>
              <a:rPr lang="en-GB" b="0" spc="-20" dirty="0" err="1"/>
              <a:t>frametime</a:t>
            </a:r>
            <a:endParaRPr b="0" spc="-10" dirty="0"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78338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3093" y="2430936"/>
            <a:ext cx="10316210" cy="493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575"/>
              </a:lnSpc>
              <a:spcBef>
                <a:spcPts val="100"/>
              </a:spcBef>
            </a:pPr>
            <a:r>
              <a:rPr sz="13050" b="1" spc="180" dirty="0">
                <a:solidFill>
                  <a:srgbClr val="466C8A"/>
                </a:solidFill>
                <a:latin typeface="Poppins"/>
                <a:cs typeface="Poppins"/>
              </a:rPr>
              <a:t>THANK</a:t>
            </a:r>
            <a:r>
              <a:rPr sz="13050" b="1" spc="490" dirty="0">
                <a:solidFill>
                  <a:srgbClr val="466C8A"/>
                </a:solidFill>
                <a:latin typeface="Poppins"/>
                <a:cs typeface="Poppins"/>
              </a:rPr>
              <a:t> </a:t>
            </a:r>
            <a:r>
              <a:rPr sz="13050" b="1" spc="110" dirty="0">
                <a:solidFill>
                  <a:srgbClr val="466C8A"/>
                </a:solidFill>
                <a:latin typeface="Poppins"/>
                <a:cs typeface="Poppins"/>
              </a:rPr>
              <a:t>YOU</a:t>
            </a:r>
            <a:endParaRPr sz="13050">
              <a:latin typeface="Poppins"/>
              <a:cs typeface="Poppins"/>
            </a:endParaRPr>
          </a:p>
          <a:p>
            <a:pPr marL="12700">
              <a:lnSpc>
                <a:spcPts val="11485"/>
              </a:lnSpc>
            </a:pPr>
            <a:r>
              <a:rPr sz="13050" b="1" spc="65" dirty="0">
                <a:solidFill>
                  <a:srgbClr val="466C8A"/>
                </a:solidFill>
                <a:latin typeface="Poppins"/>
                <a:cs typeface="Poppins"/>
              </a:rPr>
              <a:t>FOR</a:t>
            </a:r>
            <a:r>
              <a:rPr sz="13050" b="1" spc="475" dirty="0">
                <a:solidFill>
                  <a:srgbClr val="466C8A"/>
                </a:solidFill>
                <a:latin typeface="Poppins"/>
                <a:cs typeface="Poppins"/>
              </a:rPr>
              <a:t> </a:t>
            </a:r>
            <a:r>
              <a:rPr sz="13050" b="1" spc="114" dirty="0">
                <a:solidFill>
                  <a:srgbClr val="466C8A"/>
                </a:solidFill>
                <a:latin typeface="Poppins"/>
                <a:cs typeface="Poppins"/>
              </a:rPr>
              <a:t>YOUR</a:t>
            </a:r>
            <a:endParaRPr sz="13050">
              <a:latin typeface="Poppins"/>
              <a:cs typeface="Poppins"/>
            </a:endParaRPr>
          </a:p>
          <a:p>
            <a:pPr marL="12700">
              <a:lnSpc>
                <a:spcPts val="13575"/>
              </a:lnSpc>
            </a:pPr>
            <a:r>
              <a:rPr sz="13050" b="1" spc="220" dirty="0">
                <a:solidFill>
                  <a:srgbClr val="466C8A"/>
                </a:solidFill>
                <a:latin typeface="Poppins"/>
                <a:cs typeface="Poppins"/>
              </a:rPr>
              <a:t>ATTENTION!</a:t>
            </a:r>
            <a:endParaRPr sz="13050">
              <a:latin typeface="Poppins"/>
              <a:cs typeface="Poppin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0430" y="7334453"/>
            <a:ext cx="2447569" cy="29525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322</Words>
  <Application>Microsoft Office PowerPoint</Application>
  <PresentationFormat>Custom</PresentationFormat>
  <Paragraphs>95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DejaVu Serif</vt:lpstr>
      <vt:lpstr>Poppins</vt:lpstr>
      <vt:lpstr>Poppins Light</vt:lpstr>
      <vt:lpstr>Office Theme</vt:lpstr>
      <vt:lpstr>The Impact of AO Generation Methods on Real-Time Rendering</vt:lpstr>
      <vt:lpstr>AO METHODS</vt:lpstr>
      <vt:lpstr>AMBIENT</vt:lpstr>
      <vt:lpstr>AO IN GRAPHICS</vt:lpstr>
      <vt:lpstr>STATIC SCENES</vt:lpstr>
      <vt:lpstr>DYNAMIC SCENES</vt:lpstr>
      <vt:lpstr>SCREEN SPACE AO</vt:lpstr>
      <vt:lpstr>SCREEN SPACE AO</vt:lpstr>
      <vt:lpstr>HORIZON BASED AO</vt:lpstr>
      <vt:lpstr>HORIZON BASED AO</vt:lpstr>
      <vt:lpstr>GROUND TRUTH AO</vt:lpstr>
      <vt:lpstr>RESULTS</vt:lpstr>
      <vt:lpstr>MEASUREMENTS</vt:lpstr>
      <vt:lpstr>FRAMETIME</vt:lpstr>
      <vt:lpstr>VRAM USAGE</vt:lpstr>
      <vt:lpstr>CPU USAGE</vt:lpstr>
      <vt:lpstr>VISUALS</vt:lpstr>
      <vt:lpstr>VISUALS</vt:lpstr>
      <vt:lpstr>CONCLUSION</vt:lpstr>
      <vt:lpstr>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- 19 August 2025 at 14.55.19</dc:title>
  <cp:lastModifiedBy>Daan Demaecker</cp:lastModifiedBy>
  <cp:revision>13</cp:revision>
  <dcterms:created xsi:type="dcterms:W3CDTF">2025-08-19T14:33:29Z</dcterms:created>
  <dcterms:modified xsi:type="dcterms:W3CDTF">2025-08-24T07:53:26Z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2025-08-19T00:00:00Z</vt:filetime>
  </property>
  <property fmtid="{D5CDD505-2E9C-101B-9397-08002B2CF9AE}" pid="3" name="Creator">
    <vt:lpwstr>Adobe Express</vt:lpwstr>
  </property>
  <property fmtid="{D5CDD505-2E9C-101B-9397-08002B2CF9AE}" pid="4" name="LastSaved">
    <vt:filetime>2025-08-19T00:00:00Z</vt:filetime>
  </property>
  <property fmtid="{D5CDD505-2E9C-101B-9397-08002B2CF9AE}" pid="5" name="Producer">
    <vt:lpwstr>Adobe Express</vt:lpwstr>
  </property>
</Properties>
</file>