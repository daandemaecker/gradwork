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6" r:id="rId21"/>
    <p:sldId id="274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540714422892261"/>
          <c:y val="0.16708333333333336"/>
          <c:w val="0.86983507777991165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Frametime!$B$13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Frametime!$C$13:$F$13</c:f>
              <c:numCache>
                <c:formatCode>General</c:formatCode>
                <c:ptCount val="4"/>
                <c:pt idx="0">
                  <c:v>1.4235648000000001</c:v>
                </c:pt>
                <c:pt idx="1">
                  <c:v>5.2716544000000001</c:v>
                </c:pt>
                <c:pt idx="2">
                  <c:v>23.630131200000001</c:v>
                </c:pt>
                <c:pt idx="3">
                  <c:v>442.3408488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6F-436B-A205-96441DBD2B56}"/>
            </c:ext>
          </c:extLst>
        </c:ser>
        <c:ser>
          <c:idx val="1"/>
          <c:order val="1"/>
          <c:tx>
            <c:strRef>
              <c:f>Frametime!$B$14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Frametime!$C$14:$F$14</c:f>
              <c:numCache>
                <c:formatCode>General</c:formatCode>
                <c:ptCount val="4"/>
                <c:pt idx="0">
                  <c:v>1.0431488000000002</c:v>
                </c:pt>
                <c:pt idx="1">
                  <c:v>3.3596415999999998</c:v>
                </c:pt>
                <c:pt idx="2">
                  <c:v>11.262463999999998</c:v>
                </c:pt>
                <c:pt idx="3">
                  <c:v>178.87744000000001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6F-436B-A205-96441DBD2B56}"/>
            </c:ext>
          </c:extLst>
        </c:ser>
        <c:ser>
          <c:idx val="2"/>
          <c:order val="2"/>
          <c:tx>
            <c:strRef>
              <c:f>Frametime!$B$15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Frametime!$C$15:$F$15</c:f>
              <c:numCache>
                <c:formatCode>General</c:formatCode>
                <c:ptCount val="4"/>
                <c:pt idx="0">
                  <c:v>0.84520964999999992</c:v>
                </c:pt>
                <c:pt idx="1">
                  <c:v>3.1763295999999999</c:v>
                </c:pt>
                <c:pt idx="2">
                  <c:v>11.7888</c:v>
                </c:pt>
                <c:pt idx="3">
                  <c:v>214.09148535999998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6F-436B-A205-96441DBD2B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</a:t>
                </a:r>
                <a:r>
                  <a:rPr lang="en-GB" baseline="0"/>
                  <a:t> in ms</a:t>
                </a:r>
                <a:endParaRPr lang="en-GB"/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E41B5A-D2AE-419F-BCE6-16B607907838}" type="datetimeFigureOut">
              <a:rPr lang="en-GB" smtClean="0"/>
              <a:t>21/08/2025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2C3E01-0846-47B5-A129-3351AC8892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928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Questionnaire</a:t>
            </a:r>
          </a:p>
          <a:p>
            <a:r>
              <a:rPr lang="en-GB" dirty="0"/>
              <a:t>56 people</a:t>
            </a:r>
          </a:p>
          <a:p>
            <a:r>
              <a:rPr lang="en-GB" dirty="0"/>
              <a:t>No expertise needed, anyone can fill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741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 space directional occlusion</a:t>
            </a:r>
          </a:p>
          <a:p>
            <a:r>
              <a:rPr lang="en-GB" dirty="0"/>
              <a:t>Horizon based ambient occlusion+</a:t>
            </a:r>
          </a:p>
          <a:p>
            <a:r>
              <a:rPr lang="en-GB" dirty="0"/>
              <a:t>Alchemy ambient occlusion</a:t>
            </a:r>
          </a:p>
          <a:p>
            <a:r>
              <a:rPr lang="en-GB" dirty="0"/>
              <a:t>Ray traced ambient occlusion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035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93156" y="402601"/>
            <a:ext cx="1398968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E4EA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93156" y="402601"/>
            <a:ext cx="1678749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40528" y="4210131"/>
            <a:ext cx="8006943" cy="25647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jpg"/><Relationship Id="rId5" Type="http://schemas.openxmlformats.org/officeDocument/2006/relationships/image" Target="../media/image23.jpg"/><Relationship Id="rId4" Type="http://schemas.openxmlformats.org/officeDocument/2006/relationships/image" Target="../media/image22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3545" y="554898"/>
            <a:ext cx="14702155" cy="4831080"/>
          </a:xfrm>
          <a:prstGeom prst="rect">
            <a:avLst/>
          </a:prstGeom>
        </p:spPr>
        <p:txBody>
          <a:bodyPr vert="horz" wrap="square" lIns="0" tIns="242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10"/>
              </a:spcBef>
            </a:pPr>
            <a:r>
              <a:rPr sz="9000" spc="105" dirty="0"/>
              <a:t>The</a:t>
            </a:r>
            <a:r>
              <a:rPr sz="9000" spc="335" dirty="0"/>
              <a:t> </a:t>
            </a:r>
            <a:r>
              <a:rPr sz="9000" spc="130" dirty="0"/>
              <a:t>Impact</a:t>
            </a:r>
            <a:r>
              <a:rPr sz="9000" spc="340" dirty="0"/>
              <a:t> </a:t>
            </a:r>
            <a:r>
              <a:rPr sz="9000" spc="135" dirty="0"/>
              <a:t>of</a:t>
            </a:r>
            <a:endParaRPr sz="9000" dirty="0"/>
          </a:p>
          <a:p>
            <a:pPr marL="12700" marR="5080">
              <a:lnSpc>
                <a:spcPts val="12610"/>
              </a:lnSpc>
              <a:spcBef>
                <a:spcPts val="525"/>
              </a:spcBef>
            </a:pPr>
            <a:r>
              <a:rPr sz="9000" spc="80" dirty="0"/>
              <a:t>AO</a:t>
            </a:r>
            <a:r>
              <a:rPr sz="9000" spc="345" dirty="0"/>
              <a:t> </a:t>
            </a:r>
            <a:r>
              <a:rPr sz="9000" spc="140" dirty="0"/>
              <a:t>Generation</a:t>
            </a:r>
            <a:r>
              <a:rPr sz="9000" spc="345" dirty="0"/>
              <a:t> </a:t>
            </a:r>
            <a:r>
              <a:rPr sz="9000" spc="150" dirty="0"/>
              <a:t>Methods </a:t>
            </a:r>
            <a:r>
              <a:rPr sz="9000" spc="80" dirty="0"/>
              <a:t>on</a:t>
            </a:r>
            <a:r>
              <a:rPr sz="9000" spc="325" dirty="0"/>
              <a:t> </a:t>
            </a:r>
            <a:r>
              <a:rPr sz="9000" spc="160" dirty="0"/>
              <a:t>Real-</a:t>
            </a:r>
            <a:r>
              <a:rPr sz="9000" spc="120" dirty="0"/>
              <a:t>Time</a:t>
            </a:r>
            <a:r>
              <a:rPr sz="9000" spc="325" dirty="0"/>
              <a:t> </a:t>
            </a:r>
            <a:r>
              <a:rPr sz="9000" spc="150" dirty="0"/>
              <a:t>Rendering</a:t>
            </a:r>
            <a:endParaRPr sz="9000" dirty="0"/>
          </a:p>
        </p:txBody>
      </p:sp>
      <p:sp>
        <p:nvSpPr>
          <p:cNvPr id="3" name="object 3"/>
          <p:cNvSpPr txBox="1"/>
          <p:nvPr/>
        </p:nvSpPr>
        <p:spPr>
          <a:xfrm>
            <a:off x="853544" y="5465030"/>
            <a:ext cx="4792279" cy="55079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by</a:t>
            </a:r>
            <a:r>
              <a:rPr sz="3500" spc="-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Daan</a:t>
            </a:r>
            <a:r>
              <a:rPr sz="3500" spc="-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spc="-10" dirty="0">
                <a:solidFill>
                  <a:srgbClr val="264F6F"/>
                </a:solidFill>
                <a:latin typeface="Poppins"/>
                <a:cs typeface="Poppins"/>
              </a:rPr>
              <a:t>Dema</a:t>
            </a:r>
            <a:r>
              <a:rPr lang="en-GB" sz="3500" spc="-10" dirty="0">
                <a:solidFill>
                  <a:srgbClr val="264F6F"/>
                </a:solidFill>
                <a:latin typeface="Poppins"/>
                <a:cs typeface="Poppins"/>
              </a:rPr>
              <a:t>e</a:t>
            </a:r>
            <a:r>
              <a:rPr sz="3500" spc="-10" dirty="0" err="1">
                <a:solidFill>
                  <a:srgbClr val="264F6F"/>
                </a:solidFill>
                <a:latin typeface="Poppins"/>
                <a:cs typeface="Poppins"/>
              </a:rPr>
              <a:t>cker</a:t>
            </a:r>
            <a:endParaRPr sz="3500" dirty="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42177" y="4392574"/>
            <a:ext cx="5645823" cy="56458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220" dirty="0"/>
              <a:t>AO METHODS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831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3156" y="402601"/>
            <a:ext cx="7682230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AMBIENT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1861316"/>
            <a:ext cx="11062335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50" b="1" spc="135" dirty="0">
                <a:solidFill>
                  <a:srgbClr val="466C8A"/>
                </a:solidFill>
                <a:latin typeface="Poppins"/>
                <a:cs typeface="Poppins"/>
              </a:rPr>
              <a:t>OCCLUSION?</a:t>
            </a:r>
            <a:endParaRPr sz="13050">
              <a:latin typeface="Poppins"/>
              <a:cs typeface="Poppi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16343" y="4225687"/>
            <a:ext cx="14945360" cy="33635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18820">
              <a:lnSpc>
                <a:spcPts val="7005"/>
              </a:lnSpc>
              <a:spcBef>
                <a:spcPts val="90"/>
              </a:spcBef>
            </a:pPr>
            <a:r>
              <a:rPr sz="9075" b="1" baseline="-23875" dirty="0">
                <a:solidFill>
                  <a:srgbClr val="466C8A"/>
                </a:solidFill>
                <a:latin typeface="Poppins"/>
                <a:cs typeface="Poppins"/>
              </a:rPr>
              <a:t>|</a:t>
            </a:r>
            <a:r>
              <a:rPr sz="9075" b="1" spc="397" baseline="-238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It’s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when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objects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close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together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spc="-10" dirty="0">
                <a:solidFill>
                  <a:srgbClr val="264F6F"/>
                </a:solidFill>
                <a:latin typeface="Poppins"/>
                <a:cs typeface="Poppins"/>
              </a:rPr>
              <a:t>block</a:t>
            </a:r>
            <a:endParaRPr sz="3300">
              <a:latin typeface="Poppins"/>
              <a:cs typeface="Poppins"/>
            </a:endParaRPr>
          </a:p>
          <a:p>
            <a:pPr marL="1136650">
              <a:lnSpc>
                <a:spcPts val="3704"/>
              </a:lnSpc>
            </a:pP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some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surrounding</a:t>
            </a:r>
            <a:r>
              <a:rPr sz="3300" b="1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light</a:t>
            </a:r>
            <a:r>
              <a:rPr sz="3300" b="1" spc="20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bounces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spc="-10" dirty="0">
                <a:solidFill>
                  <a:srgbClr val="264F6F"/>
                </a:solidFill>
                <a:latin typeface="Poppins"/>
                <a:cs typeface="Poppins"/>
              </a:rPr>
              <a:t>scene.</a:t>
            </a:r>
            <a:endParaRPr sz="3300">
              <a:latin typeface="Poppins"/>
              <a:cs typeface="Poppin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3300">
              <a:latin typeface="Poppins"/>
              <a:cs typeface="Poppins"/>
            </a:endParaRPr>
          </a:p>
          <a:p>
            <a:pPr marL="1136650" marR="9900920" indent="-1073785">
              <a:lnSpc>
                <a:spcPct val="88400"/>
              </a:lnSpc>
              <a:tabLst>
                <a:tab pos="1136650" algn="l"/>
              </a:tabLst>
            </a:pPr>
            <a:r>
              <a:rPr sz="6825" b="1" spc="-37" baseline="-14652" dirty="0">
                <a:solidFill>
                  <a:srgbClr val="466C8A"/>
                </a:solidFill>
                <a:latin typeface="Poppins"/>
                <a:cs typeface="Poppins"/>
              </a:rPr>
              <a:t>ex:</a:t>
            </a:r>
            <a:r>
              <a:rPr sz="6825" b="1" baseline="-14652" dirty="0">
                <a:solidFill>
                  <a:srgbClr val="466C8A"/>
                </a:solidFill>
                <a:latin typeface="Poppins"/>
                <a:cs typeface="Poppins"/>
              </a:rPr>
              <a:t>	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Creases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between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fingers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Book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20" dirty="0">
                <a:solidFill>
                  <a:srgbClr val="264F6F"/>
                </a:solidFill>
                <a:latin typeface="Poppins"/>
                <a:cs typeface="Poppins"/>
              </a:rPr>
              <a:t>fold</a:t>
            </a:r>
            <a:endParaRPr sz="2450">
              <a:latin typeface="Poppins"/>
              <a:cs typeface="Poppins"/>
            </a:endParaRPr>
          </a:p>
          <a:p>
            <a:pPr marL="1136650">
              <a:lnSpc>
                <a:spcPct val="100000"/>
              </a:lnSpc>
              <a:spcBef>
                <a:spcPts val="30"/>
              </a:spcBef>
            </a:pP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Wrinkles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45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fabric</a:t>
            </a:r>
            <a:endParaRPr sz="245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14" dirty="0"/>
              <a:t>AO</a:t>
            </a:r>
            <a:r>
              <a:rPr spc="470" dirty="0"/>
              <a:t> </a:t>
            </a:r>
            <a:r>
              <a:rPr spc="114" dirty="0"/>
              <a:t>IN</a:t>
            </a:r>
            <a:r>
              <a:rPr spc="470" dirty="0"/>
              <a:t> </a:t>
            </a:r>
            <a:r>
              <a:rPr spc="220" dirty="0"/>
              <a:t>GRAPHICS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800" y="3965066"/>
            <a:ext cx="10820400" cy="595312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19944" y="3035953"/>
            <a:ext cx="9448800" cy="888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370330" marR="5080" indent="-1358265">
              <a:lnSpc>
                <a:spcPct val="101099"/>
              </a:lnSpc>
              <a:spcBef>
                <a:spcPts val="90"/>
              </a:spcBef>
            </a:pP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Non-real-time</a:t>
            </a:r>
            <a:r>
              <a:rPr sz="2800" b="1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,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using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precise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ray</a:t>
            </a:r>
            <a:r>
              <a:rPr sz="2800" b="1" spc="10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tracing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,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makes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image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look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more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realistic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0" dirty="0"/>
              <a:t>STATIC</a:t>
            </a:r>
            <a:r>
              <a:rPr spc="480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1263523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static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scenes,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baked</a:t>
            </a:r>
            <a:r>
              <a:rPr sz="2800" b="1" spc="2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means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calculated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stored</a:t>
            </a:r>
            <a:r>
              <a:rPr sz="2800" b="1" spc="2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resulting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multiplied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with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diffuse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81283" y="5143500"/>
            <a:ext cx="9125445" cy="45519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DYNAMIC</a:t>
            </a:r>
            <a:r>
              <a:rPr spc="475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7750175" cy="12045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changes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every</a:t>
            </a:r>
            <a:r>
              <a:rPr sz="2800" b="1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frame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must</a:t>
            </a:r>
            <a:r>
              <a:rPr sz="2800" b="1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b="1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recalculated</a:t>
            </a:r>
            <a:r>
              <a:rPr sz="2800" b="1" spc="23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each</a:t>
            </a:r>
            <a:r>
              <a:rPr sz="2800" spc="8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frame.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6" name="Picture 5" descr="A white circular object with a blue background&#10;&#10;Description automatically generated">
            <a:extLst>
              <a:ext uri="{FF2B5EF4-FFF2-40B4-BE49-F238E27FC236}">
                <a16:creationId xmlns:a16="http://schemas.microsoft.com/office/drawing/2014/main" id="{F2CE9C82-8994-E684-1407-3C0B068FE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4434621"/>
            <a:ext cx="6718183" cy="5247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7681" y="4889554"/>
            <a:ext cx="3823335" cy="2381421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Deferred</a:t>
            </a:r>
            <a:r>
              <a:rPr sz="28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endParaRPr sz="2800" dirty="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G-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Buffer</a:t>
            </a:r>
            <a:endParaRPr sz="2800" dirty="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Everything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lang="en-GB" sz="2800" spc="90" dirty="0">
                <a:solidFill>
                  <a:srgbClr val="264F6F"/>
                </a:solidFill>
                <a:latin typeface="Poppins"/>
                <a:cs typeface="Poppins"/>
              </a:rPr>
              <a:t>view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space</a:t>
            </a:r>
            <a:endParaRPr sz="2800" dirty="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93750" y="2889452"/>
            <a:ext cx="8496012" cy="63881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2114" y="4743159"/>
            <a:ext cx="665734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normal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number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points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percentage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occlusion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05750" y="3429000"/>
            <a:ext cx="9620237" cy="4819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02678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random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1D</a:t>
            </a:r>
            <a:r>
              <a:rPr sz="2800" spc="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March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highest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70744" y="3543300"/>
            <a:ext cx="877252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95261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4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Subtract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from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multiple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2890837"/>
            <a:ext cx="7381875" cy="6772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5" dirty="0"/>
              <a:t>GROUND</a:t>
            </a:r>
            <a:r>
              <a:rPr spc="455" dirty="0"/>
              <a:t> </a:t>
            </a:r>
            <a:r>
              <a:rPr spc="180" dirty="0"/>
              <a:t>TRUTH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3755936"/>
            <a:ext cx="7997825" cy="34467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Divide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slices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equation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44000" y="2628900"/>
            <a:ext cx="8153400" cy="6943725"/>
            <a:chOff x="9144000" y="2628900"/>
            <a:chExt cx="8153400" cy="694372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0" y="2628900"/>
              <a:ext cx="8153400" cy="50292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53537" y="7658100"/>
              <a:ext cx="7934325" cy="19145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RESULTS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MEASUREMENTS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467731" y="4101142"/>
            <a:ext cx="3374390" cy="3549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1465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14655" algn="l"/>
              </a:tabLst>
            </a:pPr>
            <a:r>
              <a:rPr lang="en-GB" sz="3700" spc="-10" dirty="0" err="1">
                <a:solidFill>
                  <a:srgbClr val="264F6F"/>
                </a:solidFill>
                <a:latin typeface="Poppins"/>
                <a:cs typeface="Poppins"/>
              </a:rPr>
              <a:t>Frametime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CPU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VRAM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Visuals</a:t>
            </a:r>
            <a:endParaRPr sz="3700" dirty="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FRAME</a:t>
            </a:r>
            <a:r>
              <a:rPr lang="en-GB" spc="220" dirty="0"/>
              <a:t>TIME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1154" y="2653094"/>
            <a:ext cx="6863246" cy="32618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06000" y="2653093"/>
            <a:ext cx="7281377" cy="329241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95900" y="6596062"/>
            <a:ext cx="7696200" cy="3348038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1227232-9414-4FE9-9F0C-1E42B3EC46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2435595"/>
              </p:ext>
            </p:extLst>
          </p:nvPr>
        </p:nvGraphicFramePr>
        <p:xfrm>
          <a:off x="5295900" y="6181141"/>
          <a:ext cx="7658100" cy="37032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0" dirty="0"/>
              <a:t>CPU</a:t>
            </a:r>
            <a:r>
              <a:rPr spc="48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85417" y="2281618"/>
            <a:ext cx="6419837" cy="390524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05629" y="1995868"/>
            <a:ext cx="6896098" cy="41909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67375" y="6274958"/>
            <a:ext cx="6953250" cy="38957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70" dirty="0"/>
              <a:t>VRAM</a:t>
            </a:r>
            <a:r>
              <a:rPr spc="47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860" y="2262187"/>
            <a:ext cx="16440150" cy="77819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72025" y="6263055"/>
            <a:ext cx="9258300" cy="375285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2588" y="2364770"/>
            <a:ext cx="3731429" cy="37078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400116" y="2364778"/>
            <a:ext cx="3662753" cy="370789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48850" y="2364778"/>
            <a:ext cx="3662751" cy="370789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097619" y="2364778"/>
            <a:ext cx="3707744" cy="37077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1D6337-15F9-1957-8D8F-7AAD91EE9890}"/>
              </a:ext>
            </a:extLst>
          </p:cNvPr>
          <p:cNvSpPr txBox="1"/>
          <p:nvPr/>
        </p:nvSpPr>
        <p:spPr>
          <a:xfrm>
            <a:off x="3666382" y="4629653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F23E2-190D-F8E5-40B7-694CF2667433}"/>
              </a:ext>
            </a:extLst>
          </p:cNvPr>
          <p:cNvSpPr txBox="1"/>
          <p:nvPr/>
        </p:nvSpPr>
        <p:spPr>
          <a:xfrm>
            <a:off x="7529052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57EC52-6381-550B-A6AD-F79D9D4F6982}"/>
              </a:ext>
            </a:extLst>
          </p:cNvPr>
          <p:cNvSpPr txBox="1"/>
          <p:nvPr/>
        </p:nvSpPr>
        <p:spPr>
          <a:xfrm>
            <a:off x="11383299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56C03-A2FB-ADEA-CB02-897BB5F08FF5}"/>
              </a:ext>
            </a:extLst>
          </p:cNvPr>
          <p:cNvSpPr txBox="1"/>
          <p:nvPr/>
        </p:nvSpPr>
        <p:spPr>
          <a:xfrm>
            <a:off x="15240000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81550" y="5824911"/>
            <a:ext cx="9010650" cy="414337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05625" y="2450500"/>
            <a:ext cx="3201503" cy="323153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72669" y="2450500"/>
            <a:ext cx="3200197" cy="3231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098009" y="2450503"/>
            <a:ext cx="3217147" cy="32313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EBB99C-C871-F9CB-D088-04BEAF5DDF3B}"/>
              </a:ext>
            </a:extLst>
          </p:cNvPr>
          <p:cNvSpPr txBox="1"/>
          <p:nvPr/>
        </p:nvSpPr>
        <p:spPr>
          <a:xfrm>
            <a:off x="12801600" y="423035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94855E-7D3B-D3C0-0A5F-3A936C9D9AC3}"/>
              </a:ext>
            </a:extLst>
          </p:cNvPr>
          <p:cNvSpPr txBox="1"/>
          <p:nvPr/>
        </p:nvSpPr>
        <p:spPr>
          <a:xfrm>
            <a:off x="9190704" y="4229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2799E-4927-6772-BAE3-14DB8CAE290F}"/>
              </a:ext>
            </a:extLst>
          </p:cNvPr>
          <p:cNvSpPr txBox="1"/>
          <p:nvPr/>
        </p:nvSpPr>
        <p:spPr>
          <a:xfrm>
            <a:off x="5638800" y="4229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CONCLUSION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dirty="0"/>
              <a:t>CPU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VRAM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are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not</a:t>
            </a:r>
            <a:r>
              <a:rPr spc="5" dirty="0"/>
              <a:t> </a:t>
            </a:r>
            <a:r>
              <a:rPr spc="-10" dirty="0"/>
              <a:t>factors</a:t>
            </a:r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Framerate</a:t>
            </a:r>
            <a:r>
              <a:rPr b="0" dirty="0">
                <a:latin typeface="Poppins"/>
                <a:cs typeface="Poppins"/>
              </a:rPr>
              <a:t>: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HBAO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spc="-20" dirty="0"/>
              <a:t>GTAO</a:t>
            </a:r>
          </a:p>
          <a:p>
            <a:pPr marL="43624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Visuals:</a:t>
            </a:r>
            <a:r>
              <a:rPr b="0" spc="-20" dirty="0">
                <a:latin typeface="Poppins Light"/>
                <a:cs typeface="Poppins Light"/>
              </a:rPr>
              <a:t> </a:t>
            </a:r>
            <a:r>
              <a:rPr dirty="0"/>
              <a:t>GTAO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first,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SSAO</a:t>
            </a:r>
            <a:r>
              <a:rPr spc="210" dirty="0"/>
              <a:t> </a:t>
            </a:r>
            <a:r>
              <a:rPr b="0" spc="-10" dirty="0">
                <a:latin typeface="Poppins"/>
                <a:cs typeface="Poppins"/>
              </a:rPr>
              <a:t>second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130" dirty="0"/>
              <a:t>FUTURE WORK</a:t>
            </a:r>
            <a:endParaRPr spc="13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5140528" y="4210131"/>
            <a:ext cx="8006943" cy="21480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dirty="0"/>
              <a:t>More AO methods</a:t>
            </a:r>
            <a:endParaRPr b="0" spc="-10" dirty="0"/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spc="-20" dirty="0"/>
              <a:t>More optimization for shorter </a:t>
            </a:r>
            <a:r>
              <a:rPr lang="en-GB" b="0" spc="-20" dirty="0" err="1"/>
              <a:t>frametime</a:t>
            </a:r>
            <a:endParaRPr b="0" spc="-10" dirty="0"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78338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93" y="2430936"/>
            <a:ext cx="10316210" cy="4932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3575"/>
              </a:lnSpc>
              <a:spcBef>
                <a:spcPts val="100"/>
              </a:spcBef>
            </a:pPr>
            <a:r>
              <a:rPr sz="13050" b="1" spc="180" dirty="0">
                <a:solidFill>
                  <a:srgbClr val="466C8A"/>
                </a:solidFill>
                <a:latin typeface="Poppins"/>
                <a:cs typeface="Poppins"/>
              </a:rPr>
              <a:t>THANK</a:t>
            </a:r>
            <a:r>
              <a:rPr sz="13050" b="1" spc="490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0" dirty="0">
                <a:solidFill>
                  <a:srgbClr val="466C8A"/>
                </a:solidFill>
                <a:latin typeface="Poppins"/>
                <a:cs typeface="Poppins"/>
              </a:rPr>
              <a:t>YOU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1485"/>
              </a:lnSpc>
            </a:pPr>
            <a:r>
              <a:rPr sz="13050" b="1" spc="65" dirty="0">
                <a:solidFill>
                  <a:srgbClr val="466C8A"/>
                </a:solidFill>
                <a:latin typeface="Poppins"/>
                <a:cs typeface="Poppins"/>
              </a:rPr>
              <a:t>FOR</a:t>
            </a:r>
            <a:r>
              <a:rPr sz="13050" b="1" spc="4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4" dirty="0">
                <a:solidFill>
                  <a:srgbClr val="466C8A"/>
                </a:solidFill>
                <a:latin typeface="Poppins"/>
                <a:cs typeface="Poppins"/>
              </a:rPr>
              <a:t>YOUR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3575"/>
              </a:lnSpc>
            </a:pPr>
            <a:r>
              <a:rPr sz="13050" b="1" spc="220" dirty="0">
                <a:solidFill>
                  <a:srgbClr val="466C8A"/>
                </a:solidFill>
                <a:latin typeface="Poppins"/>
                <a:cs typeface="Poppins"/>
              </a:rPr>
              <a:t>ATTENTION!</a:t>
            </a:r>
            <a:endParaRPr sz="13050">
              <a:latin typeface="Poppins"/>
              <a:cs typeface="Poppin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0430" y="7334453"/>
            <a:ext cx="2447569" cy="29525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309</Words>
  <Application>Microsoft Office PowerPoint</Application>
  <PresentationFormat>Custom</PresentationFormat>
  <Paragraphs>90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DejaVu Serif</vt:lpstr>
      <vt:lpstr>Poppins</vt:lpstr>
      <vt:lpstr>Poppins Light</vt:lpstr>
      <vt:lpstr>Office Theme</vt:lpstr>
      <vt:lpstr>The Impact of AO Generation Methods on Real-Time Rendering</vt:lpstr>
      <vt:lpstr>AO METHODS</vt:lpstr>
      <vt:lpstr>AMBIENT</vt:lpstr>
      <vt:lpstr>AO IN GRAPHICS</vt:lpstr>
      <vt:lpstr>STATIC SCENES</vt:lpstr>
      <vt:lpstr>DYNAMIC SCENES</vt:lpstr>
      <vt:lpstr>SCREEN SPACE AO</vt:lpstr>
      <vt:lpstr>SCREEN SPACE AO</vt:lpstr>
      <vt:lpstr>HORIZON BASED AO</vt:lpstr>
      <vt:lpstr>HORIZON BASED AO</vt:lpstr>
      <vt:lpstr>GROUND TRUTH AO</vt:lpstr>
      <vt:lpstr>RESULTS</vt:lpstr>
      <vt:lpstr>MEASUREMENTS</vt:lpstr>
      <vt:lpstr>FRAMETIME</vt:lpstr>
      <vt:lpstr>CPU USAGE</vt:lpstr>
      <vt:lpstr>VRAM USAGE</vt:lpstr>
      <vt:lpstr>VISUALS</vt:lpstr>
      <vt:lpstr>VISUALS</vt:lpstr>
      <vt:lpstr>CONCLUSION</vt:lpstr>
      <vt:lpstr>FUTURE 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- 19 August 2025 at 14.55.19</dc:title>
  <cp:lastModifiedBy>Daan Demaecker</cp:lastModifiedBy>
  <cp:revision>10</cp:revision>
  <dcterms:created xsi:type="dcterms:W3CDTF">2025-08-19T14:33:29Z</dcterms:created>
  <dcterms:modified xsi:type="dcterms:W3CDTF">2025-08-21T11:18:22Z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2025-08-19T00:00:00Z</vt:filetime>
  </property>
  <property fmtid="{D5CDD505-2E9C-101B-9397-08002B2CF9AE}" pid="3" name="Creator">
    <vt:lpwstr>Adobe Express</vt:lpwstr>
  </property>
  <property fmtid="{D5CDD505-2E9C-101B-9397-08002B2CF9AE}" pid="4" name="LastSaved">
    <vt:filetime>2025-08-19T00:00:00Z</vt:filetime>
  </property>
  <property fmtid="{D5CDD505-2E9C-101B-9397-08002B2CF9AE}" pid="5" name="Producer">
    <vt:lpwstr>Adobe Express</vt:lpwstr>
  </property>
</Properties>
</file>